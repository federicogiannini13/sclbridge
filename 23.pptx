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147476821" r:id="rId3"/>
    <p:sldId id="2147476817" r:id="rId4"/>
    <p:sldId id="2147476820" r:id="rId5"/>
    <p:sldId id="214747682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A80EF7-E484-C44D-ADEF-51289AF8EB06}" v="28" dt="2026-01-15T16:08:20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87418"/>
  </p:normalViewPr>
  <p:slideViewPr>
    <p:cSldViewPr snapToGrid="0">
      <p:cViewPr varScale="1">
        <p:scale>
          <a:sx n="140" d="100"/>
          <a:sy n="140" d="100"/>
        </p:scale>
        <p:origin x="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rora Esteban Toscano" userId="bff5bd05-71ae-4cd1-bf44-4f87e4e62751" providerId="ADAL" clId="{C8B85E58-4CE5-5155-B0DA-E0029F5CDC3C}"/>
    <pc:docChg chg="undo custSel addSld delSld modSld sldOrd">
      <pc:chgData name="Aurora Esteban Toscano" userId="bff5bd05-71ae-4cd1-bf44-4f87e4e62751" providerId="ADAL" clId="{C8B85E58-4CE5-5155-B0DA-E0029F5CDC3C}" dt="2026-01-20T13:29:00.075" v="7903" actId="20577"/>
      <pc:docMkLst>
        <pc:docMk/>
      </pc:docMkLst>
      <pc:sldChg chg="addSp delSp modSp mod setBg addAnim delAnim modAnim">
        <pc:chgData name="Aurora Esteban Toscano" userId="bff5bd05-71ae-4cd1-bf44-4f87e4e62751" providerId="ADAL" clId="{C8B85E58-4CE5-5155-B0DA-E0029F5CDC3C}" dt="2026-01-15T15:28:43.245" v="7684"/>
        <pc:sldMkLst>
          <pc:docMk/>
          <pc:sldMk cId="648419453" sldId="256"/>
        </pc:sldMkLst>
        <pc:spChg chg="mod">
          <ac:chgData name="Aurora Esteban Toscano" userId="bff5bd05-71ae-4cd1-bf44-4f87e4e62751" providerId="ADAL" clId="{C8B85E58-4CE5-5155-B0DA-E0029F5CDC3C}" dt="2026-01-15T12:36:43.712" v="7440" actId="26606"/>
          <ac:spMkLst>
            <pc:docMk/>
            <pc:sldMk cId="648419453" sldId="256"/>
            <ac:spMk id="2" creationId="{3D74996C-D3DA-4216-C94D-272AC4F8571B}"/>
          </ac:spMkLst>
        </pc:spChg>
        <pc:spChg chg="mod">
          <ac:chgData name="Aurora Esteban Toscano" userId="bff5bd05-71ae-4cd1-bf44-4f87e4e62751" providerId="ADAL" clId="{C8B85E58-4CE5-5155-B0DA-E0029F5CDC3C}" dt="2026-01-15T12:36:43.752" v="7443" actId="27636"/>
          <ac:spMkLst>
            <pc:docMk/>
            <pc:sldMk cId="648419453" sldId="256"/>
            <ac:spMk id="3" creationId="{F74AAC08-8995-CC76-8036-A7CE55876A0A}"/>
          </ac:spMkLst>
        </pc:spChg>
        <pc:spChg chg="add mod">
          <ac:chgData name="Aurora Esteban Toscano" userId="bff5bd05-71ae-4cd1-bf44-4f87e4e62751" providerId="ADAL" clId="{C8B85E58-4CE5-5155-B0DA-E0029F5CDC3C}" dt="2026-01-15T12:38:23.696" v="7465" actId="1076"/>
          <ac:spMkLst>
            <pc:docMk/>
            <pc:sldMk cId="648419453" sldId="256"/>
            <ac:spMk id="8" creationId="{DEAF74F1-922D-5F8D-4E62-64C4AD61B0C6}"/>
          </ac:spMkLst>
        </pc:spChg>
        <pc:spChg chg="add">
          <ac:chgData name="Aurora Esteban Toscano" userId="bff5bd05-71ae-4cd1-bf44-4f87e4e62751" providerId="ADAL" clId="{C8B85E58-4CE5-5155-B0DA-E0029F5CDC3C}" dt="2026-01-15T12:36:43.712" v="7440" actId="26606"/>
          <ac:spMkLst>
            <pc:docMk/>
            <pc:sldMk cId="648419453" sldId="256"/>
            <ac:spMk id="52" creationId="{E91DC736-0EF8-4F87-9146-EBF1D2EE4D3D}"/>
          </ac:spMkLst>
        </pc:spChg>
        <pc:spChg chg="add">
          <ac:chgData name="Aurora Esteban Toscano" userId="bff5bd05-71ae-4cd1-bf44-4f87e4e62751" providerId="ADAL" clId="{C8B85E58-4CE5-5155-B0DA-E0029F5CDC3C}" dt="2026-01-15T12:36:43.712" v="7440" actId="26606"/>
          <ac:spMkLst>
            <pc:docMk/>
            <pc:sldMk cId="648419453" sldId="256"/>
            <ac:spMk id="53" creationId="{097CD68E-23E3-4007-8847-CD0944C4F7BE}"/>
          </ac:spMkLst>
        </pc:spChg>
        <pc:spChg chg="add">
          <ac:chgData name="Aurora Esteban Toscano" userId="bff5bd05-71ae-4cd1-bf44-4f87e4e62751" providerId="ADAL" clId="{C8B85E58-4CE5-5155-B0DA-E0029F5CDC3C}" dt="2026-01-15T12:36:43.712" v="7440" actId="26606"/>
          <ac:spMkLst>
            <pc:docMk/>
            <pc:sldMk cId="648419453" sldId="256"/>
            <ac:spMk id="54" creationId="{AF2F604E-43BE-4DC3-B983-E071523364F8}"/>
          </ac:spMkLst>
        </pc:spChg>
        <pc:spChg chg="add">
          <ac:chgData name="Aurora Esteban Toscano" userId="bff5bd05-71ae-4cd1-bf44-4f87e4e62751" providerId="ADAL" clId="{C8B85E58-4CE5-5155-B0DA-E0029F5CDC3C}" dt="2026-01-15T12:36:43.712" v="7440" actId="26606"/>
          <ac:spMkLst>
            <pc:docMk/>
            <pc:sldMk cId="648419453" sldId="256"/>
            <ac:spMk id="55" creationId="{08C9B587-E65E-4B52-B37C-ABEBB6E87928}"/>
          </ac:spMkLst>
        </pc:spChg>
        <pc:picChg chg="mod ord">
          <ac:chgData name="Aurora Esteban Toscano" userId="bff5bd05-71ae-4cd1-bf44-4f87e4e62751" providerId="ADAL" clId="{C8B85E58-4CE5-5155-B0DA-E0029F5CDC3C}" dt="2026-01-15T12:36:43.712" v="7440" actId="26606"/>
          <ac:picMkLst>
            <pc:docMk/>
            <pc:sldMk cId="648419453" sldId="256"/>
            <ac:picMk id="5" creationId="{28E48443-C8CB-470F-2BF7-AD6AE8CE968F}"/>
          </ac:picMkLst>
        </pc:picChg>
        <pc:picChg chg="add mod">
          <ac:chgData name="Aurora Esteban Toscano" userId="bff5bd05-71ae-4cd1-bf44-4f87e4e62751" providerId="ADAL" clId="{C8B85E58-4CE5-5155-B0DA-E0029F5CDC3C}" dt="2026-01-15T12:39:10.187" v="7469" actId="1076"/>
          <ac:picMkLst>
            <pc:docMk/>
            <pc:sldMk cId="648419453" sldId="256"/>
            <ac:picMk id="6" creationId="{2BD32272-CE24-D08F-CEDE-12F0B40935FC}"/>
          </ac:picMkLst>
        </pc:picChg>
        <pc:picChg chg="add mod">
          <ac:chgData name="Aurora Esteban Toscano" userId="bff5bd05-71ae-4cd1-bf44-4f87e4e62751" providerId="ADAL" clId="{C8B85E58-4CE5-5155-B0DA-E0029F5CDC3C}" dt="2026-01-15T12:38:19.031" v="7464" actId="1076"/>
          <ac:picMkLst>
            <pc:docMk/>
            <pc:sldMk cId="648419453" sldId="256"/>
            <ac:picMk id="7" creationId="{701C806B-E35E-2550-E3D8-8B2D53546329}"/>
          </ac:picMkLst>
        </pc:picChg>
      </pc:sldChg>
      <pc:sldChg chg="addSp delSp modSp mod ord modNotesTx">
        <pc:chgData name="Aurora Esteban Toscano" userId="bff5bd05-71ae-4cd1-bf44-4f87e4e62751" providerId="ADAL" clId="{C8B85E58-4CE5-5155-B0DA-E0029F5CDC3C}" dt="2026-01-20T13:28:02.051" v="7888" actId="20577"/>
        <pc:sldMkLst>
          <pc:docMk/>
          <pc:sldMk cId="1625174129" sldId="2147476817"/>
        </pc:sldMkLst>
        <pc:spChg chg="mod">
          <ac:chgData name="Aurora Esteban Toscano" userId="bff5bd05-71ae-4cd1-bf44-4f87e4e62751" providerId="ADAL" clId="{C8B85E58-4CE5-5155-B0DA-E0029F5CDC3C}" dt="2026-01-15T15:30:04.656" v="7693" actId="20577"/>
          <ac:spMkLst>
            <pc:docMk/>
            <pc:sldMk cId="1625174129" sldId="2147476817"/>
            <ac:spMk id="2" creationId="{99946316-0269-31EA-0C4C-0C3D55B3CE20}"/>
          </ac:spMkLst>
        </pc:spChg>
        <pc:picChg chg="add mod">
          <ac:chgData name="Aurora Esteban Toscano" userId="bff5bd05-71ae-4cd1-bf44-4f87e4e62751" providerId="ADAL" clId="{C8B85E58-4CE5-5155-B0DA-E0029F5CDC3C}" dt="2026-01-15T12:30:24.473" v="7395" actId="1076"/>
          <ac:picMkLst>
            <pc:docMk/>
            <pc:sldMk cId="1625174129" sldId="2147476817"/>
            <ac:picMk id="3" creationId="{A25DB4B6-4F74-C6A1-F8CF-433B211E3724}"/>
          </ac:picMkLst>
        </pc:picChg>
      </pc:sldChg>
      <pc:sldChg chg="addSp delSp modSp mod modNotesTx">
        <pc:chgData name="Aurora Esteban Toscano" userId="bff5bd05-71ae-4cd1-bf44-4f87e4e62751" providerId="ADAL" clId="{C8B85E58-4CE5-5155-B0DA-E0029F5CDC3C}" dt="2026-01-20T13:29:00.075" v="7903" actId="20577"/>
        <pc:sldMkLst>
          <pc:docMk/>
          <pc:sldMk cId="2121087461" sldId="2147476820"/>
        </pc:sldMkLst>
        <pc:spChg chg="mod">
          <ac:chgData name="Aurora Esteban Toscano" userId="bff5bd05-71ae-4cd1-bf44-4f87e4e62751" providerId="ADAL" clId="{C8B85E58-4CE5-5155-B0DA-E0029F5CDC3C}" dt="2026-01-15T16:05:48.827" v="7856" actId="1076"/>
          <ac:spMkLst>
            <pc:docMk/>
            <pc:sldMk cId="2121087461" sldId="2147476820"/>
            <ac:spMk id="2" creationId="{4FAA9EDD-977B-CF53-7AFB-5B68982E052A}"/>
          </ac:spMkLst>
        </pc:spChg>
        <pc:spChg chg="add mod">
          <ac:chgData name="Aurora Esteban Toscano" userId="bff5bd05-71ae-4cd1-bf44-4f87e4e62751" providerId="ADAL" clId="{C8B85E58-4CE5-5155-B0DA-E0029F5CDC3C}" dt="2026-01-20T13:29:00.075" v="7903" actId="20577"/>
          <ac:spMkLst>
            <pc:docMk/>
            <pc:sldMk cId="2121087461" sldId="2147476820"/>
            <ac:spMk id="4" creationId="{C7CDFFBA-03A2-2996-7196-452496A2A547}"/>
          </ac:spMkLst>
        </pc:spChg>
        <pc:spChg chg="mod">
          <ac:chgData name="Aurora Esteban Toscano" userId="bff5bd05-71ae-4cd1-bf44-4f87e4e62751" providerId="ADAL" clId="{C8B85E58-4CE5-5155-B0DA-E0029F5CDC3C}" dt="2026-01-15T16:00:42.511" v="7727" actId="1076"/>
          <ac:spMkLst>
            <pc:docMk/>
            <pc:sldMk cId="2121087461" sldId="2147476820"/>
            <ac:spMk id="8" creationId="{AFED69F0-9044-7C8D-B4C1-E6FBECAC55EE}"/>
          </ac:spMkLst>
        </pc:spChg>
        <pc:picChg chg="mod">
          <ac:chgData name="Aurora Esteban Toscano" userId="bff5bd05-71ae-4cd1-bf44-4f87e4e62751" providerId="ADAL" clId="{C8B85E58-4CE5-5155-B0DA-E0029F5CDC3C}" dt="2026-01-15T16:07:02.898" v="7867" actId="1076"/>
          <ac:picMkLst>
            <pc:docMk/>
            <pc:sldMk cId="2121087461" sldId="2147476820"/>
            <ac:picMk id="6" creationId="{1BFCDFF4-1AD8-5948-C092-615CA4D5D917}"/>
          </ac:picMkLst>
        </pc:picChg>
        <pc:picChg chg="add mod">
          <ac:chgData name="Aurora Esteban Toscano" userId="bff5bd05-71ae-4cd1-bf44-4f87e4e62751" providerId="ADAL" clId="{C8B85E58-4CE5-5155-B0DA-E0029F5CDC3C}" dt="2026-01-15T16:05:57.944" v="7858" actId="1076"/>
          <ac:picMkLst>
            <pc:docMk/>
            <pc:sldMk cId="2121087461" sldId="2147476820"/>
            <ac:picMk id="7" creationId="{C91563B3-FE22-89FC-5014-80C9BBF1AC81}"/>
          </ac:picMkLst>
        </pc:picChg>
      </pc:sldChg>
      <pc:sldChg chg="addSp delSp modSp new mod modAnim modNotesTx">
        <pc:chgData name="Aurora Esteban Toscano" userId="bff5bd05-71ae-4cd1-bf44-4f87e4e62751" providerId="ADAL" clId="{C8B85E58-4CE5-5155-B0DA-E0029F5CDC3C}" dt="2026-01-20T12:22:18.326" v="7879" actId="20577"/>
        <pc:sldMkLst>
          <pc:docMk/>
          <pc:sldMk cId="3012392245" sldId="2147476821"/>
        </pc:sldMkLst>
        <pc:spChg chg="mod">
          <ac:chgData name="Aurora Esteban Toscano" userId="bff5bd05-71ae-4cd1-bf44-4f87e4e62751" providerId="ADAL" clId="{C8B85E58-4CE5-5155-B0DA-E0029F5CDC3C}" dt="2026-01-15T12:31:46.903" v="7412" actId="20577"/>
          <ac:spMkLst>
            <pc:docMk/>
            <pc:sldMk cId="3012392245" sldId="2147476821"/>
            <ac:spMk id="2" creationId="{02B10E14-1577-6EFE-C3F0-CD33C8D42964}"/>
          </ac:spMkLst>
        </pc:spChg>
        <pc:spChg chg="add mod">
          <ac:chgData name="Aurora Esteban Toscano" userId="bff5bd05-71ae-4cd1-bf44-4f87e4e62751" providerId="ADAL" clId="{C8B85E58-4CE5-5155-B0DA-E0029F5CDC3C}" dt="2026-01-15T15:29:03.790" v="7685" actId="113"/>
          <ac:spMkLst>
            <pc:docMk/>
            <pc:sldMk cId="3012392245" sldId="2147476821"/>
            <ac:spMk id="4" creationId="{0CF2FE7F-FF6A-4DED-D8BE-FF0DCE71A959}"/>
          </ac:spMkLst>
        </pc:spChg>
        <pc:spChg chg="add mod">
          <ac:chgData name="Aurora Esteban Toscano" userId="bff5bd05-71ae-4cd1-bf44-4f87e4e62751" providerId="ADAL" clId="{C8B85E58-4CE5-5155-B0DA-E0029F5CDC3C}" dt="2026-01-15T16:13:25.870" v="7875" actId="207"/>
          <ac:spMkLst>
            <pc:docMk/>
            <pc:sldMk cId="3012392245" sldId="2147476821"/>
            <ac:spMk id="5" creationId="{A64346F5-2AEC-7B01-A151-CF748441A419}"/>
          </ac:spMkLst>
        </pc:spChg>
        <pc:spChg chg="add mod">
          <ac:chgData name="Aurora Esteban Toscano" userId="bff5bd05-71ae-4cd1-bf44-4f87e4e62751" providerId="ADAL" clId="{C8B85E58-4CE5-5155-B0DA-E0029F5CDC3C}" dt="2026-01-15T16:13:29.390" v="7876" actId="207"/>
          <ac:spMkLst>
            <pc:docMk/>
            <pc:sldMk cId="3012392245" sldId="2147476821"/>
            <ac:spMk id="6" creationId="{1D8D5E45-586E-08AF-E633-E0822DECF663}"/>
          </ac:spMkLst>
        </pc:spChg>
        <pc:spChg chg="add mod">
          <ac:chgData name="Aurora Esteban Toscano" userId="bff5bd05-71ae-4cd1-bf44-4f87e4e62751" providerId="ADAL" clId="{C8B85E58-4CE5-5155-B0DA-E0029F5CDC3C}" dt="2026-01-15T16:13:32.153" v="7877" actId="207"/>
          <ac:spMkLst>
            <pc:docMk/>
            <pc:sldMk cId="3012392245" sldId="2147476821"/>
            <ac:spMk id="7" creationId="{7AC4AE4F-B236-237B-CD33-6227A421EC1F}"/>
          </ac:spMkLst>
        </pc:spChg>
        <pc:spChg chg="add mod">
          <ac:chgData name="Aurora Esteban Toscano" userId="bff5bd05-71ae-4cd1-bf44-4f87e4e62751" providerId="ADAL" clId="{C8B85E58-4CE5-5155-B0DA-E0029F5CDC3C}" dt="2026-01-15T16:13:34.710" v="7878" actId="207"/>
          <ac:spMkLst>
            <pc:docMk/>
            <pc:sldMk cId="3012392245" sldId="2147476821"/>
            <ac:spMk id="8" creationId="{C9DE8CE2-7577-0464-DA27-386008857328}"/>
          </ac:spMkLst>
        </pc:spChg>
      </pc:sldChg>
      <pc:sldChg chg="add modAnim modNotesTx">
        <pc:chgData name="Aurora Esteban Toscano" userId="bff5bd05-71ae-4cd1-bf44-4f87e4e62751" providerId="ADAL" clId="{C8B85E58-4CE5-5155-B0DA-E0029F5CDC3C}" dt="2026-01-20T13:28:20.846" v="7901" actId="20577"/>
        <pc:sldMkLst>
          <pc:docMk/>
          <pc:sldMk cId="2967205045" sldId="21474768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E8B9A-B1B2-47A6-B552-EF15A8799F1B}" type="datetimeFigureOut"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BCDEF-4620-4F6A-84F8-6ACCBA6B6E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44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Hi, I’m Aurora Esteban, and I’ll briefly present our work on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online learning supported by foundation models for anomaly detection in industrial settings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focus is real-time industrial monitoring, where data 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non-stationary, unlabeled, and safety-critical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DEF-4620-4F6A-84F8-6ACCBA6B6E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95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industrial systems, anomalies must be detected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data streams 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often without labels.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solutions face a trade-off: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Online detectors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adapt quickly but can drift and absorb anomalies as normal.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or foundation models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capture rich temporal structure but are expensive and hard to deploy online.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challenge is: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 we combine fast adaptation with robust, general representations in streaming environments?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DEF-4620-4F6A-84F8-6ACCBA6B6E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11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propose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Dual-Learner Anomaly Detection, or DAD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combines two complementary learners: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 online model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based on Half-Space Trees, for low-latency adaptation.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 foundation model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MOMENT, which performs reconstruction-based anomaly scoring.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novelty is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 unsupervised, confidence-based router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At each time step, the system decides whether to trust: the online model, the foundation model, or a confidence-weighted ensemble.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Confidence is estimated differently for each learner and modeled online using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Beta distributions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constant memory and no sliding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DEF-4620-4F6A-84F8-6ACCBA6B6E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12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evaluate DAD on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industrial hoist installations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over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84,000 rides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strong non-stationarity.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setup is fully unsupervised and prequential.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findings show that: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DAD in zero-shot mode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matches or outperforms strong online baselines.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 the foundation model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enables effective transfer across installations.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improve anomaly ranking quality while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maintaining real-time feasibility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 Over Time &amp; Takeaways (20 seconds)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in the stream, DAD relies on the foundation model for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cold-start protection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data accumulates, the online learner dominates.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anomalies or uncertainty, the system naturally shifts toward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ensemble predictions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DEF-4620-4F6A-84F8-6ACCBA6B6E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46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DD9AE-84C0-A7C0-AC01-3A49290B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B56E6-603F-1DD4-9506-42076B6CA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2F1B3-AA38-D638-33E3-7A3BA221B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conclusion, this work shows that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online learning and foundation models are complementary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that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confidence-aware routing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enables robust, label-free industrial anomaly detection.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4B5A2-D7AB-C30D-3902-A58C14F82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BCDEF-4620-4F6A-84F8-6ACCBA6B6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909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5144-2D7D-41C5-91D6-E67A93AE8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2F8B3-E551-954D-76B6-BDB1E1339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8E598-A2E1-B16A-A9DD-6B60A53F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4712E-6C8D-8C56-8899-760EF2201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6894-086E-C3C0-D2B0-E4BFEA6D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5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332F6-CADE-41D4-F2B7-105AFE56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EC084-9D85-2FD7-2DC8-5065488ED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ADD5F-D04C-AD61-C635-D7023390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2073-F53B-B7E0-6B7E-7E3053EF4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6A335-1E29-6D92-1D7C-CC48AB16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3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0F931-AA75-744B-5C41-B5971833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F6350-9866-14EE-8959-EAEEC4B3A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2742F-1719-441B-6868-BBF06C23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0B02A-5562-1568-C351-53D4CA7C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D9920-3075-CDA2-581F-C5A4453B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46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37E85-A335-4587-0055-8A11E85F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DB1A-70D1-6500-8953-57F7B225A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78E2F-5A41-AFCC-BA60-3034F7E19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30ECC-D2AD-A059-C3E8-26B4AE5B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7CA0D-7E35-1B76-CE72-111162D69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CD976-EF95-B04B-2D78-874BF2F62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82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25E04-7C65-DADB-E3A1-70C3F5B8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95AB6-D512-537B-776F-2C18F158E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69CE6-B5A5-1E99-9AA0-562C5A05C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5AC2BA-7164-76F6-F9CC-0C9EDE13B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36926-497C-39C9-A2C5-EF1998EDA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68EC0-5D88-3D2D-955B-3C9FA0B6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0D5EB8-87F9-2DFA-1162-31FBB7091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49ADE-B76E-F366-6DA9-F1039E41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5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E2F2-3C11-BB6E-C0E2-13EF382D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34174-B33E-C7E6-E367-385DEE434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090BC-B3F8-3FAD-73BA-3DCC42D7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4DCC1-2EBA-C9A0-1DBA-9CD02A5B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4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8FAB61-B9DF-D9E8-E338-48F88571C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5C8128-F06A-31F4-DC9F-5C01C1F96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BBC82-0447-A130-61AA-E976D09EC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45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09A06-4B2E-714C-C200-79911611C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431F4-772B-1489-1E00-8794B80C6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69244-0D31-6EF2-65A4-14A95FD3A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96810-E72A-490E-5625-48D3EAEE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EA6AA-0FE3-15E7-DCC1-3079CAAB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B2DAC-BA5B-90DC-6711-86CFF8E7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3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8CFB-2DDC-5A80-64FE-69CCF3F1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2A977-4F6E-FE4E-DC69-AD6DE41DD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88E16-75D6-559E-32FA-5E7E076BA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38A1A-E6F9-5CF7-12B8-9D82AF5F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E96BA-2EFF-CA32-47AA-F61C19EE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132AA-7DFF-FA5D-C0DD-A9D59BF4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78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95254-12BD-724A-7741-6521186F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6145D-77F1-677B-01F2-2B96866BA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987D2-998A-1D5A-CF95-14A0E0B6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2E176-E187-FEC7-8F13-9C45AC32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3D03B-8B9A-A964-143F-A7CF28FC5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18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E99D1-D318-EBE4-B73C-1973DF4EA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CC208-F7F4-5490-D57B-C64B4BEEA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C2EC-22D6-A62A-904B-7EAC7BBB2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1CE77-8AF1-1663-6164-474A81F5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773FD-391C-0EA5-7C0C-6FE10AED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5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- 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 descr="Shape&#10;&#10;Description automatically generated with low confidence">
            <a:extLst>
              <a:ext uri="{FF2B5EF4-FFF2-40B4-BE49-F238E27FC236}">
                <a16:creationId xmlns:a16="http://schemas.microsoft.com/office/drawing/2014/main" id="{C559E78D-741D-4B29-8B45-D25DC85885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AD450C4-46B3-428A-939F-4BCF06F038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19800" cy="68580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320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ACA34A3-0172-4616-AA98-9CA036E3B1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96277" y="2828645"/>
            <a:ext cx="4664075" cy="168251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80990" indent="-380990">
              <a:buClr>
                <a:schemeClr val="bg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766" indent="-228589">
              <a:buClr>
                <a:schemeClr val="bg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2942" indent="-228589">
              <a:buClr>
                <a:schemeClr val="bg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120" indent="-228589">
              <a:buClr>
                <a:schemeClr val="bg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298" indent="-228589">
              <a:buClr>
                <a:schemeClr val="bg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A1D890A-F73C-4D7C-B483-743089DB1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276" y="1602081"/>
            <a:ext cx="4664075" cy="7393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0D69B5-E3A2-494A-9500-F548B2667725}"/>
              </a:ext>
            </a:extLst>
          </p:cNvPr>
          <p:cNvSpPr/>
          <p:nvPr userDrawn="1"/>
        </p:nvSpPr>
        <p:spPr>
          <a:xfrm>
            <a:off x="6662739" y="1214440"/>
            <a:ext cx="11112" cy="442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sz="24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089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A2D5C6-CF7A-634D-0618-FF08505C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924B5-130A-ADC8-B987-11066DEB8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F1FD5-A8B0-9AB8-7056-829F2E087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00913-0B45-C84E-A610-03CD636C76A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75A02-A6EA-2CB1-39FE-1C96E6128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EE49E-3EA4-09A4-0E63-34EA596CD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F8A76-33C7-134E-B67B-6CCD0D280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3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48443-C8CB-470F-2BF7-AD6AE8CE96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09" t="6484" r="19501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4996C-D3DA-4216-C94D-272AC4F85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700" dirty="0"/>
              <a:t>Online Learning Supported by Foundation Models for Anomaly Detection in Industrial Settings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AAC08-8995-CC76-8036-A7CE55876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algn="l"/>
            <a:r>
              <a:rPr lang="en-US" sz="1700" b="1"/>
              <a:t>Aurora Esteban</a:t>
            </a:r>
            <a:r>
              <a:rPr lang="en-US" sz="1700"/>
              <a:t>, Sepideh Pashami, Felix Nilsson, Luka Smeets, Slawomir Nowaczyk</a:t>
            </a:r>
          </a:p>
          <a:p>
            <a:pPr algn="l"/>
            <a:r>
              <a:rPr lang="en-US" sz="1700" b="1"/>
              <a:t>Contact:</a:t>
            </a:r>
            <a:r>
              <a:rPr lang="en-US" sz="1700"/>
              <a:t> aurora.esteban.Toscano@hh.se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32272-CE24-D08F-CEDE-12F0B4093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911" y="4565208"/>
            <a:ext cx="1272089" cy="1621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1C806B-E35E-2550-E3D8-8B2D53546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80" y="367848"/>
            <a:ext cx="956184" cy="6619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AF74F1-922D-5F8D-4E62-64C4AD61B0C6}"/>
              </a:ext>
            </a:extLst>
          </p:cNvPr>
          <p:cNvSpPr txBox="1"/>
          <p:nvPr/>
        </p:nvSpPr>
        <p:spPr>
          <a:xfrm>
            <a:off x="1434164" y="367551"/>
            <a:ext cx="4208700" cy="660941"/>
          </a:xfrm>
          <a:prstGeom prst="rect">
            <a:avLst/>
          </a:prstGeom>
          <a:solidFill>
            <a:srgbClr val="003872"/>
          </a:solidFill>
        </p:spPr>
        <p:txBody>
          <a:bodyPr wrap="square" rtlCol="0" anchor="ctr" anchorCtr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The 40</a:t>
            </a:r>
            <a:r>
              <a:rPr lang="en-US" sz="1200" baseline="30000" dirty="0">
                <a:solidFill>
                  <a:schemeClr val="bg1"/>
                </a:solidFill>
              </a:rPr>
              <a:t>th</a:t>
            </a:r>
            <a:r>
              <a:rPr lang="en-US" sz="1200" dirty="0">
                <a:solidFill>
                  <a:schemeClr val="bg1"/>
                </a:solidFill>
              </a:rPr>
              <a:t> Annual AAAI Conference on Artificial Intelligence</a:t>
            </a:r>
          </a:p>
          <a:p>
            <a:r>
              <a:rPr lang="en-US" sz="1200" dirty="0">
                <a:solidFill>
                  <a:schemeClr val="bg1"/>
                </a:solidFill>
              </a:rPr>
              <a:t>Jan 20 – Jan 27, 2026 | Singapore</a:t>
            </a:r>
          </a:p>
        </p:txBody>
      </p:sp>
    </p:spTree>
    <p:extLst>
      <p:ext uri="{BB962C8B-B14F-4D97-AF65-F5344CB8AC3E}">
        <p14:creationId xmlns:p14="http://schemas.microsoft.com/office/powerpoint/2010/main" val="64841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0E14-1577-6EFE-C3F0-CD33C8D42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CF2FE7F-FF6A-4DED-D8BE-FF0DCE71A959}"/>
              </a:ext>
            </a:extLst>
          </p:cNvPr>
          <p:cNvSpPr txBox="1">
            <a:spLocks/>
          </p:cNvSpPr>
          <p:nvPr/>
        </p:nvSpPr>
        <p:spPr>
          <a:xfrm>
            <a:off x="928114" y="1590430"/>
            <a:ext cx="10515600" cy="1728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Industrial systems produce continuous operational data under non-stationary conditions</a:t>
            </a:r>
          </a:p>
          <a:p>
            <a:r>
              <a:rPr lang="en-US" sz="2400" dirty="0"/>
              <a:t>Anomalies are rare and labels delayed</a:t>
            </a:r>
          </a:p>
          <a:p>
            <a:r>
              <a:rPr lang="en-US" sz="2400" dirty="0"/>
              <a:t>Need: Real-time, adaptive, label-free </a:t>
            </a:r>
            <a:r>
              <a:rPr lang="en-US" sz="2400" b="1" dirty="0"/>
              <a:t>anomaly detection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4346F5-2AEC-7B01-A151-CF748441A419}"/>
              </a:ext>
            </a:extLst>
          </p:cNvPr>
          <p:cNvSpPr/>
          <p:nvPr/>
        </p:nvSpPr>
        <p:spPr>
          <a:xfrm>
            <a:off x="1715821" y="3319199"/>
            <a:ext cx="3430718" cy="1436914"/>
          </a:xfrm>
          <a:prstGeom prst="roundRect">
            <a:avLst/>
          </a:prstGeom>
          <a:solidFill>
            <a:srgbClr val="0039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Online models </a:t>
            </a:r>
            <a:r>
              <a:rPr lang="en-US" dirty="0"/>
              <a:t>are fast but may struggle with complex patterns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8D5E45-586E-08AF-E633-E0822DECF663}"/>
              </a:ext>
            </a:extLst>
          </p:cNvPr>
          <p:cNvSpPr/>
          <p:nvPr/>
        </p:nvSpPr>
        <p:spPr>
          <a:xfrm>
            <a:off x="1715821" y="4922263"/>
            <a:ext cx="3430717" cy="1436914"/>
          </a:xfrm>
          <a:prstGeom prst="roundRect">
            <a:avLst/>
          </a:prstGeom>
          <a:solidFill>
            <a:srgbClr val="0039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Deep learning </a:t>
            </a:r>
            <a:r>
              <a:rPr lang="en-US" dirty="0"/>
              <a:t>captures richer dynamics but is slower and does not automatically adapt to concept drift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C4AE4F-B236-237B-CD33-6227A421EC1F}"/>
              </a:ext>
            </a:extLst>
          </p:cNvPr>
          <p:cNvSpPr/>
          <p:nvPr/>
        </p:nvSpPr>
        <p:spPr>
          <a:xfrm>
            <a:off x="7196490" y="4113283"/>
            <a:ext cx="2770701" cy="1436914"/>
          </a:xfrm>
          <a:prstGeom prst="roundRect">
            <a:avLst/>
          </a:prstGeom>
          <a:solidFill>
            <a:srgbClr val="0039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Combine both using </a:t>
            </a:r>
            <a:r>
              <a:rPr lang="en-US" b="1" dirty="0"/>
              <a:t>confidence-based routing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C9DE8CE2-7577-0464-DA27-386008857328}"/>
              </a:ext>
            </a:extLst>
          </p:cNvPr>
          <p:cNvSpPr/>
          <p:nvPr/>
        </p:nvSpPr>
        <p:spPr>
          <a:xfrm>
            <a:off x="5470245" y="4432979"/>
            <a:ext cx="1402538" cy="797522"/>
          </a:xfrm>
          <a:prstGeom prst="rightArrow">
            <a:avLst/>
          </a:prstGeom>
          <a:solidFill>
            <a:srgbClr val="0039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IDEA</a:t>
            </a:r>
          </a:p>
        </p:txBody>
      </p:sp>
    </p:spTree>
    <p:extLst>
      <p:ext uri="{BB962C8B-B14F-4D97-AF65-F5344CB8AC3E}">
        <p14:creationId xmlns:p14="http://schemas.microsoft.com/office/powerpoint/2010/main" val="301239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9D2C-DB45-6DA5-1643-F3EBAF9B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6316-0269-31EA-0C4C-0C3D55B3C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Anomaly Detection (DAD) for data streams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33A858-F33B-4DAC-DC98-86485CFAAA8E}"/>
              </a:ext>
            </a:extLst>
          </p:cNvPr>
          <p:cNvSpPr txBox="1"/>
          <p:nvPr/>
        </p:nvSpPr>
        <p:spPr>
          <a:xfrm>
            <a:off x="838199" y="5396675"/>
            <a:ext cx="1051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• Online Learner: Half-Space Trees (fast, incremental)</a:t>
            </a:r>
          </a:p>
          <a:p>
            <a:r>
              <a:rPr lang="en-US" sz="2000" dirty="0"/>
              <a:t>• Background Learner: MOMENT (pretrained foundation model with fine-tuning possibilities)</a:t>
            </a:r>
          </a:p>
          <a:p>
            <a:r>
              <a:rPr lang="en-US" sz="2000" dirty="0"/>
              <a:t>• Router: Chooses model or ensemble based on confidence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5DB4B6-4F74-C6A1-F8CF-433B211E3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786" y="1881974"/>
            <a:ext cx="7832425" cy="309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7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39B5B-A163-997C-1F56-E4FB904EE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A9EDD-977B-CF53-7AFB-5B68982E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67" y="425005"/>
            <a:ext cx="10515600" cy="1325563"/>
          </a:xfrm>
        </p:spPr>
        <p:txBody>
          <a:bodyPr/>
          <a:lstStyle/>
          <a:p>
            <a:r>
              <a:rPr lang="en-US" dirty="0"/>
              <a:t>Case Study &amp; 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FCDFF4-1AD8-5948-C092-615CA4D5D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82992" y="4305101"/>
            <a:ext cx="7512208" cy="22467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ED69F0-9044-7C8D-B4C1-E6FBECAC55EE}"/>
              </a:ext>
            </a:extLst>
          </p:cNvPr>
          <p:cNvSpPr txBox="1"/>
          <p:nvPr/>
        </p:nvSpPr>
        <p:spPr>
          <a:xfrm>
            <a:off x="196800" y="4403390"/>
            <a:ext cx="4144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Our method matches or exceeds baselines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Our method is more robust across different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Execution time remains practical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Fine-tuning improves performance on new installation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DFFBA-03A2-2996-7196-452496A2A547}"/>
              </a:ext>
            </a:extLst>
          </p:cNvPr>
          <p:cNvSpPr txBox="1"/>
          <p:nvPr/>
        </p:nvSpPr>
        <p:spPr>
          <a:xfrm>
            <a:off x="2691467" y="1848857"/>
            <a:ext cx="84757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industrial hoist installations, up to 84000 rides, 15% and 36% of anomalies, respectively.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Evaluation: fully unsupervised, prequential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relation to Foundation Model: Zero-shot vs Fine-tuning from one installation to another</a:t>
            </a:r>
          </a:p>
        </p:txBody>
      </p:sp>
      <p:pic>
        <p:nvPicPr>
          <p:cNvPr id="7" name="Picture 6" descr="RAXTAR offers world class vertical access solutions for high-rise  construction projects.">
            <a:extLst>
              <a:ext uri="{FF2B5EF4-FFF2-40B4-BE49-F238E27FC236}">
                <a16:creationId xmlns:a16="http://schemas.microsoft.com/office/drawing/2014/main" id="{C91563B3-FE22-89FC-5014-80C9BBF1A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691467" cy="430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8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B17F2-A198-E4E1-1B49-5AD238993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F73DFE8C-8EFD-1057-4445-A0E48A3BE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A1725-94A4-4549-DCBF-E18904DED4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09" t="6484" r="19501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5434ABA0-30A2-78D7-114D-E2DB21D6A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23E06-DF70-BC9C-84BC-A68F2CE6D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700" dirty="0"/>
              <a:t>Online Learning Supported by Foundation Models for Anomaly Detection in Industrial Settings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40FAC-C51A-FA39-D5F3-3F8758BDE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algn="l"/>
            <a:r>
              <a:rPr lang="en-US" sz="1700" b="1"/>
              <a:t>Aurora Esteban</a:t>
            </a:r>
            <a:r>
              <a:rPr lang="en-US" sz="1700"/>
              <a:t>, Sepideh Pashami, Felix Nilsson, Luka Smeets, Slawomir Nowaczyk</a:t>
            </a:r>
          </a:p>
          <a:p>
            <a:pPr algn="l"/>
            <a:r>
              <a:rPr lang="en-US" sz="1700" b="1"/>
              <a:t>Contact:</a:t>
            </a:r>
            <a:r>
              <a:rPr lang="en-US" sz="1700"/>
              <a:t> aurora.esteban.Toscano@hh.se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F6C5DDD-C9C6-75E8-C4FE-62264C1C8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953B161-729E-FC6F-099E-3DB60159F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26256-D59F-E527-9150-86FCAB3BD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911" y="4565208"/>
            <a:ext cx="1272089" cy="1621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74DFDF-505A-5645-EE37-2818F9E538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80" y="367848"/>
            <a:ext cx="956184" cy="6619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4B2AF0-F84F-5110-CD53-ABD1C8A27042}"/>
              </a:ext>
            </a:extLst>
          </p:cNvPr>
          <p:cNvSpPr txBox="1"/>
          <p:nvPr/>
        </p:nvSpPr>
        <p:spPr>
          <a:xfrm>
            <a:off x="1434164" y="367551"/>
            <a:ext cx="4208700" cy="660941"/>
          </a:xfrm>
          <a:prstGeom prst="rect">
            <a:avLst/>
          </a:prstGeom>
          <a:solidFill>
            <a:srgbClr val="003872"/>
          </a:solidFill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40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Annual AAAI Conference on Artificial Intelligence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Jan 20 – Jan 27, 2026 | Singapore</a:t>
            </a:r>
          </a:p>
        </p:txBody>
      </p:sp>
    </p:spTree>
    <p:extLst>
      <p:ext uri="{BB962C8B-B14F-4D97-AF65-F5344CB8AC3E}">
        <p14:creationId xmlns:p14="http://schemas.microsoft.com/office/powerpoint/2010/main" val="2967205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641</Words>
  <Application>Microsoft Macintosh PowerPoint</Application>
  <PresentationFormat>Widescreen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Online Learning Supported by Foundation Models for Anomaly Detection in Industrial Settings</vt:lpstr>
      <vt:lpstr>Introduction</vt:lpstr>
      <vt:lpstr>Dual Anomaly Detection (DAD) for data streams</vt:lpstr>
      <vt:lpstr>Case Study &amp; Results</vt:lpstr>
      <vt:lpstr>Online Learning Supported by Foundation Models for Anomaly Detection in Industrial Settings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Aurora Esteban Toscano</dc:creator>
  <cp:lastModifiedBy>Aurora Esteban Toscano</cp:lastModifiedBy>
  <cp:revision>99</cp:revision>
  <dcterms:created xsi:type="dcterms:W3CDTF">2025-11-06T13:44:31Z</dcterms:created>
  <dcterms:modified xsi:type="dcterms:W3CDTF">2026-01-20T13:29:09Z</dcterms:modified>
</cp:coreProperties>
</file>
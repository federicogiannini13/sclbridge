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7" r:id="rId2"/>
    <p:sldId id="260" r:id="rId3"/>
    <p:sldId id="259" r:id="rId4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8A1987-CCA8-4597-BFBA-74B3C16CD749}" v="6" dt="2026-01-16T10:30:32.9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319"/>
    <p:restoredTop sz="96260"/>
  </p:normalViewPr>
  <p:slideViewPr>
    <p:cSldViewPr snapToGrid="0">
      <p:cViewPr varScale="1">
        <p:scale>
          <a:sx n="126" d="100"/>
          <a:sy n="126" d="100"/>
        </p:scale>
        <p:origin x="4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ele Iovine" userId="a785aab6-4ff9-4b05-8f19-32b804b10e69" providerId="ADAL" clId="{C7BA1573-51F6-4B89-B731-52409C2FE73E}"/>
    <pc:docChg chg="custSel modSld">
      <pc:chgData name="Michele Iovine" userId="a785aab6-4ff9-4b05-8f19-32b804b10e69" providerId="ADAL" clId="{C7BA1573-51F6-4B89-B731-52409C2FE73E}" dt="2026-01-16T10:30:32.934" v="14"/>
      <pc:docMkLst>
        <pc:docMk/>
      </pc:docMkLst>
      <pc:sldChg chg="modSp mod">
        <pc:chgData name="Michele Iovine" userId="a785aab6-4ff9-4b05-8f19-32b804b10e69" providerId="ADAL" clId="{C7BA1573-51F6-4B89-B731-52409C2FE73E}" dt="2026-01-16T10:30:32.934" v="14"/>
        <pc:sldMkLst>
          <pc:docMk/>
          <pc:sldMk cId="720259734" sldId="257"/>
        </pc:sldMkLst>
        <pc:spChg chg="mod">
          <ac:chgData name="Michele Iovine" userId="a785aab6-4ff9-4b05-8f19-32b804b10e69" providerId="ADAL" clId="{C7BA1573-51F6-4B89-B731-52409C2FE73E}" dt="2026-01-16T10:30:32.934" v="14"/>
          <ac:spMkLst>
            <pc:docMk/>
            <pc:sldMk cId="720259734" sldId="257"/>
            <ac:spMk id="27" creationId="{0E5512D2-9651-164E-7478-C52122C154C0}"/>
          </ac:spMkLst>
        </pc:spChg>
        <pc:spChg chg="mod">
          <ac:chgData name="Michele Iovine" userId="a785aab6-4ff9-4b05-8f19-32b804b10e69" providerId="ADAL" clId="{C7BA1573-51F6-4B89-B731-52409C2FE73E}" dt="2026-01-16T10:30:32.934" v="12"/>
          <ac:spMkLst>
            <pc:docMk/>
            <pc:sldMk cId="720259734" sldId="257"/>
            <ac:spMk id="28" creationId="{F3EA05DB-4884-85A0-D026-1BAECB3DC2EB}"/>
          </ac:spMkLst>
        </pc:spChg>
        <pc:spChg chg="mod">
          <ac:chgData name="Michele Iovine" userId="a785aab6-4ff9-4b05-8f19-32b804b10e69" providerId="ADAL" clId="{C7BA1573-51F6-4B89-B731-52409C2FE73E}" dt="2026-01-16T10:30:26.694" v="10" actId="14100"/>
          <ac:spMkLst>
            <pc:docMk/>
            <pc:sldMk cId="720259734" sldId="257"/>
            <ac:spMk id="29" creationId="{269A8401-1CF1-5387-E061-4A78704D0939}"/>
          </ac:spMkLst>
        </pc:spChg>
        <pc:spChg chg="mod">
          <ac:chgData name="Michele Iovine" userId="a785aab6-4ff9-4b05-8f19-32b804b10e69" providerId="ADAL" clId="{C7BA1573-51F6-4B89-B731-52409C2FE73E}" dt="2026-01-16T10:30:20.945" v="9" actId="14100"/>
          <ac:spMkLst>
            <pc:docMk/>
            <pc:sldMk cId="720259734" sldId="257"/>
            <ac:spMk id="30" creationId="{F275340B-7967-4DD6-5D9F-2B4F30160974}"/>
          </ac:spMkLst>
        </pc:spChg>
        <pc:spChg chg="mod">
          <ac:chgData name="Michele Iovine" userId="a785aab6-4ff9-4b05-8f19-32b804b10e69" providerId="ADAL" clId="{C7BA1573-51F6-4B89-B731-52409C2FE73E}" dt="2026-01-16T10:30:16.030" v="8" actId="14100"/>
          <ac:spMkLst>
            <pc:docMk/>
            <pc:sldMk cId="720259734" sldId="257"/>
            <ac:spMk id="31" creationId="{7D9C8FB5-A233-5F12-E6C7-2A701BDF20FF}"/>
          </ac:spMkLst>
        </pc:spChg>
        <pc:picChg chg="mod">
          <ac:chgData name="Michele Iovine" userId="a785aab6-4ff9-4b05-8f19-32b804b10e69" providerId="ADAL" clId="{C7BA1573-51F6-4B89-B731-52409C2FE73E}" dt="2026-01-16T10:29:57.657" v="3"/>
          <ac:picMkLst>
            <pc:docMk/>
            <pc:sldMk cId="720259734" sldId="257"/>
            <ac:picMk id="6" creationId="{B12AF49E-AA82-B14D-BE7E-257E72FBA7EC}"/>
          </ac:picMkLst>
        </pc:picChg>
        <pc:picChg chg="mod">
          <ac:chgData name="Michele Iovine" userId="a785aab6-4ff9-4b05-8f19-32b804b10e69" providerId="ADAL" clId="{C7BA1573-51F6-4B89-B731-52409C2FE73E}" dt="2026-01-16T10:29:57.657" v="1"/>
          <ac:picMkLst>
            <pc:docMk/>
            <pc:sldMk cId="720259734" sldId="257"/>
            <ac:picMk id="11" creationId="{23D890D1-CBA4-B626-2290-3005781555A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497B58-B614-CA42-9E2D-B3E23E45BE39}" type="datetimeFigureOut">
              <a:rPr lang="it-IT" smtClean="0"/>
              <a:t>20/01/26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1476E7-3A66-B740-9724-0D86990BA1F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5962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err="1"/>
              <a:t>Let</a:t>
            </a:r>
            <a:r>
              <a:rPr lang="it-IT" dirty="0"/>
              <a:t> me start with an </a:t>
            </a:r>
            <a:r>
              <a:rPr lang="it-IT" dirty="0" err="1"/>
              <a:t>example</a:t>
            </a:r>
            <a:r>
              <a:rPr lang="it-IT" dirty="0"/>
              <a:t>.</a:t>
            </a:r>
          </a:p>
          <a:p>
            <a:r>
              <a:rPr lang="it-IT" dirty="0"/>
              <a:t>Here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train</a:t>
            </a:r>
            <a:r>
              <a:rPr lang="it-IT" dirty="0"/>
              <a:t> a model on a </a:t>
            </a:r>
            <a:r>
              <a:rPr lang="it-IT" dirty="0" err="1"/>
              <a:t>given</a:t>
            </a:r>
            <a:r>
              <a:rPr lang="it-IT" dirty="0"/>
              <a:t> </a:t>
            </a:r>
            <a:r>
              <a:rPr lang="it-IT" dirty="0" err="1"/>
              <a:t>distribution</a:t>
            </a:r>
            <a:r>
              <a:rPr lang="it-IT" dirty="0"/>
              <a:t>, and </a:t>
            </a:r>
            <a:r>
              <a:rPr lang="it-IT" dirty="0" err="1"/>
              <a:t>then</a:t>
            </a:r>
            <a:r>
              <a:rPr lang="it-IT" dirty="0"/>
              <a:t>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evaluate</a:t>
            </a:r>
            <a:r>
              <a:rPr lang="it-IT" dirty="0"/>
              <a:t> in on data </a:t>
            </a:r>
            <a:r>
              <a:rPr lang="it-IT" dirty="0" err="1"/>
              <a:t>that</a:t>
            </a:r>
            <a:r>
              <a:rPr lang="it-IT" dirty="0"/>
              <a:t> are OOD. The key point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all</a:t>
            </a:r>
            <a:r>
              <a:rPr lang="it-IT" dirty="0"/>
              <a:t> OOD </a:t>
            </a:r>
            <a:r>
              <a:rPr lang="it-IT" dirty="0" err="1"/>
              <a:t>scenarios</a:t>
            </a:r>
            <a:r>
              <a:rPr lang="it-IT" dirty="0"/>
              <a:t> are the </a:t>
            </a:r>
            <a:r>
              <a:rPr lang="it-IT" dirty="0" err="1"/>
              <a:t>same</a:t>
            </a:r>
            <a:r>
              <a:rPr lang="it-IT" dirty="0"/>
              <a:t>.</a:t>
            </a:r>
          </a:p>
          <a:p>
            <a:r>
              <a:rPr lang="it-IT" dirty="0"/>
              <a:t>In some </a:t>
            </a:r>
            <a:r>
              <a:rPr lang="it-IT" dirty="0" err="1"/>
              <a:t>cases</a:t>
            </a:r>
            <a:r>
              <a:rPr lang="it-IT" dirty="0"/>
              <a:t>, the OOD data are </a:t>
            </a:r>
            <a:r>
              <a:rPr lang="it-IT" dirty="0" err="1"/>
              <a:t>consistent</a:t>
            </a:r>
            <a:r>
              <a:rPr lang="it-IT" dirty="0"/>
              <a:t> with </a:t>
            </a:r>
            <a:r>
              <a:rPr lang="it-IT" dirty="0" err="1"/>
              <a:t>what</a:t>
            </a:r>
            <a:r>
              <a:rPr lang="it-IT" dirty="0"/>
              <a:t> the model </a:t>
            </a:r>
            <a:r>
              <a:rPr lang="it-IT" dirty="0" err="1"/>
              <a:t>has</a:t>
            </a:r>
            <a:r>
              <a:rPr lang="it-IT" dirty="0"/>
              <a:t> </a:t>
            </a:r>
            <a:r>
              <a:rPr lang="it-IT" dirty="0" err="1"/>
              <a:t>seen</a:t>
            </a:r>
            <a:r>
              <a:rPr lang="it-IT" dirty="0"/>
              <a:t> </a:t>
            </a:r>
            <a:r>
              <a:rPr lang="it-IT" dirty="0" err="1"/>
              <a:t>before</a:t>
            </a:r>
            <a:r>
              <a:rPr lang="it-IT" dirty="0"/>
              <a:t>: the </a:t>
            </a:r>
            <a:r>
              <a:rPr lang="it-IT" dirty="0" err="1"/>
              <a:t>distribution</a:t>
            </a:r>
            <a:r>
              <a:rPr lang="it-IT" dirty="0"/>
              <a:t> </a:t>
            </a:r>
            <a:r>
              <a:rPr lang="it-IT" dirty="0" err="1"/>
              <a:t>has</a:t>
            </a:r>
            <a:r>
              <a:rPr lang="it-IT" dirty="0"/>
              <a:t> </a:t>
            </a:r>
            <a:r>
              <a:rPr lang="it-IT" dirty="0" err="1"/>
              <a:t>shifted</a:t>
            </a:r>
            <a:r>
              <a:rPr lang="it-IT" dirty="0"/>
              <a:t>, </a:t>
            </a:r>
            <a:r>
              <a:rPr lang="it-IT" dirty="0" err="1"/>
              <a:t>but</a:t>
            </a:r>
            <a:r>
              <a:rPr lang="it-IT" dirty="0"/>
              <a:t> the model can </a:t>
            </a:r>
            <a:r>
              <a:rPr lang="it-IT" dirty="0" err="1"/>
              <a:t>reasonably</a:t>
            </a:r>
            <a:r>
              <a:rPr lang="it-IT" dirty="0"/>
              <a:t> </a:t>
            </a:r>
            <a:r>
              <a:rPr lang="it-IT" dirty="0" err="1"/>
              <a:t>adapt</a:t>
            </a:r>
            <a:r>
              <a:rPr lang="it-IT" dirty="0"/>
              <a:t> over time.</a:t>
            </a:r>
          </a:p>
          <a:p>
            <a:r>
              <a:rPr lang="it-IT" dirty="0"/>
              <a:t>In </a:t>
            </a:r>
            <a:r>
              <a:rPr lang="it-IT" dirty="0" err="1"/>
              <a:t>other</a:t>
            </a:r>
            <a:r>
              <a:rPr lang="it-IT" dirty="0"/>
              <a:t> </a:t>
            </a:r>
            <a:r>
              <a:rPr lang="it-IT" dirty="0" err="1"/>
              <a:t>cases</a:t>
            </a:r>
            <a:r>
              <a:rPr lang="it-IT" dirty="0"/>
              <a:t>, the OOD data are </a:t>
            </a:r>
            <a:r>
              <a:rPr lang="it-IT" dirty="0" err="1"/>
              <a:t>harder</a:t>
            </a:r>
            <a:r>
              <a:rPr lang="it-IT" dirty="0"/>
              <a:t>: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the </a:t>
            </a:r>
            <a:r>
              <a:rPr lang="it-IT" dirty="0" err="1"/>
              <a:t>distribution</a:t>
            </a:r>
            <a:r>
              <a:rPr lang="it-IT" dirty="0"/>
              <a:t> </a:t>
            </a:r>
            <a:r>
              <a:rPr lang="it-IT" dirty="0" err="1"/>
              <a:t>changes</a:t>
            </a:r>
            <a:r>
              <a:rPr lang="it-IT" dirty="0"/>
              <a:t>, </a:t>
            </a:r>
            <a:r>
              <a:rPr lang="it-IT" dirty="0" err="1"/>
              <a:t>but</a:t>
            </a:r>
            <a:r>
              <a:rPr lang="it-IT" dirty="0"/>
              <a:t> the </a:t>
            </a:r>
            <a:r>
              <a:rPr lang="it-IT" dirty="0" err="1"/>
              <a:t>problem</a:t>
            </a:r>
            <a:r>
              <a:rPr lang="it-IT" dirty="0"/>
              <a:t> </a:t>
            </a:r>
            <a:r>
              <a:rPr lang="it-IT" dirty="0" err="1"/>
              <a:t>itself</a:t>
            </a:r>
            <a:r>
              <a:rPr lang="it-IT" dirty="0"/>
              <a:t> </a:t>
            </a:r>
            <a:r>
              <a:rPr lang="it-IT" dirty="0" err="1"/>
              <a:t>has</a:t>
            </a:r>
            <a:r>
              <a:rPr lang="it-IT" dirty="0"/>
              <a:t> </a:t>
            </a:r>
            <a:r>
              <a:rPr lang="it-IT" dirty="0" err="1"/>
              <a:t>become</a:t>
            </a:r>
            <a:r>
              <a:rPr lang="it-IT" dirty="0"/>
              <a:t> more </a:t>
            </a:r>
            <a:r>
              <a:rPr lang="it-IT" dirty="0" err="1"/>
              <a:t>complex</a:t>
            </a:r>
            <a:r>
              <a:rPr lang="it-IT" dirty="0"/>
              <a:t>. In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scenarios</a:t>
            </a:r>
            <a:r>
              <a:rPr lang="it-IT" dirty="0"/>
              <a:t>, </a:t>
            </a:r>
            <a:r>
              <a:rPr lang="it-IT" dirty="0" err="1"/>
              <a:t>even</a:t>
            </a:r>
            <a:r>
              <a:rPr lang="it-IT" dirty="0"/>
              <a:t> a </a:t>
            </a:r>
            <a:r>
              <a:rPr lang="it-IT" dirty="0" err="1"/>
              <a:t>well-adapting</a:t>
            </a:r>
            <a:r>
              <a:rPr lang="it-IT" dirty="0"/>
              <a:t> model </a:t>
            </a:r>
            <a:r>
              <a:rPr lang="it-IT" dirty="0" err="1"/>
              <a:t>will</a:t>
            </a:r>
            <a:r>
              <a:rPr lang="it-IT" dirty="0"/>
              <a:t> </a:t>
            </a:r>
            <a:r>
              <a:rPr lang="it-IT" dirty="0" err="1"/>
              <a:t>struggle</a:t>
            </a:r>
            <a:r>
              <a:rPr lang="it-IT" dirty="0"/>
              <a:t>.</a:t>
            </a:r>
          </a:p>
          <a:p>
            <a:r>
              <a:rPr lang="it-IT" dirty="0"/>
              <a:t>The </a:t>
            </a:r>
            <a:r>
              <a:rPr lang="it-IT" dirty="0" err="1"/>
              <a:t>issue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, </a:t>
            </a:r>
            <a:r>
              <a:rPr lang="it-IT" dirty="0" err="1"/>
              <a:t>today</a:t>
            </a:r>
            <a:r>
              <a:rPr lang="it-IT" dirty="0"/>
              <a:t>,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usually</a:t>
            </a:r>
            <a:r>
              <a:rPr lang="it-IT" dirty="0"/>
              <a:t> </a:t>
            </a:r>
            <a:r>
              <a:rPr lang="it-IT" dirty="0" err="1"/>
              <a:t>treat</a:t>
            </a:r>
            <a:r>
              <a:rPr lang="it-IT" dirty="0"/>
              <a:t> </a:t>
            </a:r>
            <a:r>
              <a:rPr lang="it-IT" dirty="0" err="1"/>
              <a:t>all</a:t>
            </a:r>
            <a:r>
              <a:rPr lang="it-IT" dirty="0"/>
              <a:t> </a:t>
            </a:r>
            <a:r>
              <a:rPr lang="it-IT" dirty="0" err="1"/>
              <a:t>these</a:t>
            </a:r>
            <a:r>
              <a:rPr lang="it-IT" dirty="0"/>
              <a:t> </a:t>
            </a:r>
            <a:r>
              <a:rPr lang="it-IT" dirty="0" err="1"/>
              <a:t>cases</a:t>
            </a:r>
            <a:r>
              <a:rPr lang="it-IT" dirty="0"/>
              <a:t> </a:t>
            </a:r>
            <a:r>
              <a:rPr lang="it-IT" dirty="0" err="1"/>
              <a:t>simply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OOD, </a:t>
            </a:r>
            <a:r>
              <a:rPr lang="it-IT" dirty="0" err="1"/>
              <a:t>without</a:t>
            </a:r>
            <a:r>
              <a:rPr lang="it-IT" dirty="0"/>
              <a:t> </a:t>
            </a:r>
            <a:r>
              <a:rPr lang="it-IT" dirty="0" err="1"/>
              <a:t>distinguishing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FD1230-2E33-9F46-8D22-52CB0B7211D2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579076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79517-B5FE-5145-A86E-CD617219C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606485F-733E-FC3E-C5AF-2EF41886C4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EC8B532-CEF4-ADD1-834F-600D23E82E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distinction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just </a:t>
            </a:r>
            <a:r>
              <a:rPr lang="it-IT" dirty="0" err="1"/>
              <a:t>conceptual</a:t>
            </a:r>
            <a:r>
              <a:rPr lang="it-IT" dirty="0"/>
              <a:t>, </a:t>
            </a:r>
            <a:r>
              <a:rPr lang="it-IT" dirty="0" err="1"/>
              <a:t>but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clearly</a:t>
            </a:r>
            <a:r>
              <a:rPr lang="it-IT" dirty="0"/>
              <a:t> </a:t>
            </a:r>
            <a:r>
              <a:rPr lang="it-IT" dirty="0" err="1"/>
              <a:t>appears</a:t>
            </a:r>
            <a:r>
              <a:rPr lang="it-IT" dirty="0"/>
              <a:t> in </a:t>
            </a:r>
            <a:r>
              <a:rPr lang="it-IT" dirty="0" err="1"/>
              <a:t>real</a:t>
            </a:r>
            <a:r>
              <a:rPr lang="it-IT" dirty="0"/>
              <a:t>-world data.</a:t>
            </a:r>
          </a:p>
          <a:p>
            <a:r>
              <a:rPr lang="it-IT" dirty="0"/>
              <a:t>Here, for </a:t>
            </a:r>
            <a:r>
              <a:rPr lang="it-IT" dirty="0" err="1"/>
              <a:t>example</a:t>
            </a:r>
            <a:r>
              <a:rPr lang="it-IT" dirty="0"/>
              <a:t>, </a:t>
            </a:r>
            <a:r>
              <a:rPr lang="it-IT" dirty="0" err="1"/>
              <a:t>we</a:t>
            </a:r>
            <a:r>
              <a:rPr lang="it-IT" dirty="0"/>
              <a:t> show a UMAP </a:t>
            </a:r>
            <a:r>
              <a:rPr lang="it-IT" dirty="0" err="1"/>
              <a:t>projection</a:t>
            </a:r>
            <a:r>
              <a:rPr lang="it-IT" dirty="0"/>
              <a:t> of the Yearbook dataset </a:t>
            </a:r>
            <a:r>
              <a:rPr lang="it-IT" dirty="0" err="1"/>
              <a:t>across</a:t>
            </a:r>
            <a:r>
              <a:rPr lang="it-IT" dirty="0"/>
              <a:t> </a:t>
            </a:r>
            <a:r>
              <a:rPr lang="it-IT" dirty="0" err="1"/>
              <a:t>different</a:t>
            </a:r>
            <a:r>
              <a:rPr lang="it-IT" dirty="0"/>
              <a:t> time </a:t>
            </a:r>
            <a:r>
              <a:rPr lang="it-IT" dirty="0" err="1"/>
              <a:t>period</a:t>
            </a:r>
            <a:r>
              <a:rPr lang="it-IT" dirty="0"/>
              <a:t>.</a:t>
            </a:r>
          </a:p>
          <a:p>
            <a:r>
              <a:rPr lang="it-IT" dirty="0" err="1"/>
              <a:t>As</a:t>
            </a:r>
            <a:r>
              <a:rPr lang="it-IT" dirty="0"/>
              <a:t> time progresses, </a:t>
            </a:r>
            <a:r>
              <a:rPr lang="it-IT" dirty="0" err="1"/>
              <a:t>you</a:t>
            </a:r>
            <a:r>
              <a:rPr lang="it-IT" dirty="0"/>
              <a:t> can </a:t>
            </a:r>
            <a:r>
              <a:rPr lang="it-IT" dirty="0" err="1"/>
              <a:t>see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the feature </a:t>
            </a:r>
            <a:r>
              <a:rPr lang="it-IT" dirty="0" err="1"/>
              <a:t>representations</a:t>
            </a:r>
            <a:r>
              <a:rPr lang="it-IT" dirty="0"/>
              <a:t> of the classes start to </a:t>
            </a:r>
            <a:r>
              <a:rPr lang="it-IT" dirty="0" err="1"/>
              <a:t>overlap</a:t>
            </a:r>
            <a:r>
              <a:rPr lang="it-IT" dirty="0"/>
              <a:t> and </a:t>
            </a:r>
            <a:r>
              <a:rPr lang="it-IT" dirty="0" err="1"/>
              <a:t>intertwine</a:t>
            </a:r>
            <a:r>
              <a:rPr lang="it-IT" dirty="0"/>
              <a:t> </a:t>
            </a:r>
            <a:r>
              <a:rPr lang="it-IT" dirty="0" err="1"/>
              <a:t>much</a:t>
            </a:r>
            <a:r>
              <a:rPr lang="it-IT" dirty="0"/>
              <a:t> more.</a:t>
            </a:r>
          </a:p>
          <a:p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measn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the </a:t>
            </a:r>
            <a:r>
              <a:rPr lang="it-IT" dirty="0" err="1"/>
              <a:t>classification</a:t>
            </a:r>
            <a:r>
              <a:rPr lang="it-IT" dirty="0"/>
              <a:t> </a:t>
            </a:r>
            <a:r>
              <a:rPr lang="it-IT" dirty="0" err="1"/>
              <a:t>problem</a:t>
            </a:r>
            <a:r>
              <a:rPr lang="it-IT" dirty="0"/>
              <a:t> </a:t>
            </a:r>
            <a:r>
              <a:rPr lang="it-IT" dirty="0" err="1"/>
              <a:t>itself</a:t>
            </a:r>
            <a:r>
              <a:rPr lang="it-IT" dirty="0"/>
              <a:t> </a:t>
            </a:r>
            <a:r>
              <a:rPr lang="it-IT" dirty="0" err="1"/>
              <a:t>becomes</a:t>
            </a:r>
            <a:r>
              <a:rPr lang="it-IT" dirty="0"/>
              <a:t> </a:t>
            </a:r>
            <a:r>
              <a:rPr lang="it-IT" dirty="0" err="1"/>
              <a:t>harder</a:t>
            </a:r>
            <a:r>
              <a:rPr lang="it-IT" dirty="0"/>
              <a:t> over time: class are </a:t>
            </a:r>
            <a:r>
              <a:rPr lang="it-IT" dirty="0" err="1"/>
              <a:t>less</a:t>
            </a:r>
            <a:r>
              <a:rPr lang="it-IT" dirty="0"/>
              <a:t> </a:t>
            </a:r>
            <a:r>
              <a:rPr lang="it-IT" dirty="0" err="1"/>
              <a:t>separable</a:t>
            </a:r>
            <a:r>
              <a:rPr lang="it-IT" dirty="0"/>
              <a:t>, and the </a:t>
            </a:r>
            <a:r>
              <a:rPr lang="it-IT" dirty="0" err="1"/>
              <a:t>decision</a:t>
            </a:r>
            <a:r>
              <a:rPr lang="it-IT" dirty="0"/>
              <a:t> </a:t>
            </a:r>
            <a:r>
              <a:rPr lang="it-IT" dirty="0" err="1"/>
              <a:t>boundaries</a:t>
            </a:r>
            <a:r>
              <a:rPr lang="it-IT" dirty="0"/>
              <a:t> are more </a:t>
            </a:r>
            <a:r>
              <a:rPr lang="it-IT" dirty="0" err="1"/>
              <a:t>complex</a:t>
            </a:r>
            <a:r>
              <a:rPr lang="it-IT" dirty="0"/>
              <a:t>.</a:t>
            </a:r>
          </a:p>
          <a:p>
            <a:r>
              <a:rPr lang="it-IT" dirty="0" err="1"/>
              <a:t>However</a:t>
            </a:r>
            <a:r>
              <a:rPr lang="it-IT" dirty="0"/>
              <a:t>, standard </a:t>
            </a:r>
            <a:r>
              <a:rPr lang="it-IT" dirty="0" err="1"/>
              <a:t>evaluation</a:t>
            </a:r>
            <a:r>
              <a:rPr lang="it-IT" dirty="0"/>
              <a:t> </a:t>
            </a:r>
            <a:r>
              <a:rPr lang="it-IT" dirty="0" err="1"/>
              <a:t>metrics</a:t>
            </a:r>
            <a:r>
              <a:rPr lang="it-IT" dirty="0"/>
              <a:t> </a:t>
            </a:r>
            <a:r>
              <a:rPr lang="it-IT" dirty="0" err="1"/>
              <a:t>such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ID and OOD </a:t>
            </a:r>
            <a:r>
              <a:rPr lang="it-IT" dirty="0" err="1"/>
              <a:t>accuracy</a:t>
            </a:r>
            <a:r>
              <a:rPr lang="it-IT" dirty="0"/>
              <a:t> </a:t>
            </a:r>
            <a:r>
              <a:rPr lang="it-IT" dirty="0" err="1"/>
              <a:t>cannot</a:t>
            </a:r>
            <a:r>
              <a:rPr lang="it-IT" dirty="0"/>
              <a:t> tell </a:t>
            </a:r>
            <a:r>
              <a:rPr lang="it-IT" dirty="0" err="1"/>
              <a:t>us</a:t>
            </a:r>
            <a:r>
              <a:rPr lang="it-IT" dirty="0"/>
              <a:t> </a:t>
            </a:r>
            <a:r>
              <a:rPr lang="it-IT" dirty="0" err="1"/>
              <a:t>why</a:t>
            </a:r>
            <a:r>
              <a:rPr lang="it-IT" dirty="0"/>
              <a:t> performance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decreasing</a:t>
            </a:r>
            <a:r>
              <a:rPr lang="it-IT" dirty="0"/>
              <a:t>, </a:t>
            </a:r>
            <a:r>
              <a:rPr lang="it-IT" dirty="0" err="1"/>
              <a:t>they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tell </a:t>
            </a:r>
            <a:r>
              <a:rPr lang="it-IT" dirty="0" err="1"/>
              <a:t>us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performance </a:t>
            </a:r>
            <a:r>
              <a:rPr lang="it-IT" dirty="0" err="1"/>
              <a:t>dropped</a:t>
            </a:r>
            <a:r>
              <a:rPr lang="it-IT" dirty="0"/>
              <a:t>.</a:t>
            </a:r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8634F32-22CC-D6EC-38E1-30A6900AF4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FD1230-2E33-9F46-8D22-52CB0B7211D2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403109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3C825-E032-EBAB-00B0-BBE764BBC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4D4C669-B28B-4544-25A6-B2582BB174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6AF2F79-6356-9AAB-0AE5-6667467C49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To </a:t>
            </a:r>
            <a:r>
              <a:rPr lang="it-IT" dirty="0" err="1"/>
              <a:t>address</a:t>
            </a:r>
            <a:r>
              <a:rPr lang="it-IT" dirty="0"/>
              <a:t>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ambiguity</a:t>
            </a:r>
            <a:r>
              <a:rPr lang="it-IT" dirty="0"/>
              <a:t>, </a:t>
            </a:r>
            <a:r>
              <a:rPr lang="it-IT" dirty="0" err="1"/>
              <a:t>we</a:t>
            </a:r>
            <a:r>
              <a:rPr lang="it-IT" dirty="0"/>
              <a:t> propose a set of post-hoc </a:t>
            </a:r>
            <a:r>
              <a:rPr lang="it-IT" dirty="0" err="1"/>
              <a:t>metrics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explicitly</a:t>
            </a:r>
            <a:r>
              <a:rPr lang="it-IT" dirty="0"/>
              <a:t> </a:t>
            </a:r>
            <a:r>
              <a:rPr lang="it-IT" dirty="0" err="1"/>
              <a:t>disentangle</a:t>
            </a:r>
            <a:r>
              <a:rPr lang="it-IT" dirty="0"/>
              <a:t> </a:t>
            </a:r>
            <a:r>
              <a:rPr lang="it-IT" dirty="0" err="1"/>
              <a:t>these</a:t>
            </a:r>
            <a:r>
              <a:rPr lang="it-IT" dirty="0"/>
              <a:t> </a:t>
            </a:r>
            <a:r>
              <a:rPr lang="it-IT" dirty="0" err="1"/>
              <a:t>two</a:t>
            </a:r>
            <a:r>
              <a:rPr lang="it-IT" dirty="0"/>
              <a:t> </a:t>
            </a:r>
            <a:r>
              <a:rPr lang="it-IT" dirty="0" err="1"/>
              <a:t>effects</a:t>
            </a:r>
            <a:r>
              <a:rPr lang="it-IT" dirty="0"/>
              <a:t>. </a:t>
            </a:r>
          </a:p>
          <a:p>
            <a:r>
              <a:rPr lang="it-IT" dirty="0"/>
              <a:t>In </a:t>
            </a:r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you</a:t>
            </a:r>
            <a:r>
              <a:rPr lang="it-IT" dirty="0"/>
              <a:t> can </a:t>
            </a:r>
            <a:r>
              <a:rPr lang="it-IT" dirty="0" err="1"/>
              <a:t>see</a:t>
            </a:r>
            <a:r>
              <a:rPr lang="it-IT" dirty="0"/>
              <a:t> one of </a:t>
            </a:r>
            <a:r>
              <a:rPr lang="it-IT" dirty="0" err="1"/>
              <a:t>them</a:t>
            </a:r>
            <a:r>
              <a:rPr lang="it-IT" dirty="0"/>
              <a:t>, </a:t>
            </a:r>
            <a:r>
              <a:rPr lang="it-IT" dirty="0" err="1"/>
              <a:t>called</a:t>
            </a:r>
            <a:r>
              <a:rPr lang="it-IT" dirty="0"/>
              <a:t> </a:t>
            </a:r>
            <a:r>
              <a:rPr lang="it-IT" dirty="0" err="1"/>
              <a:t>Temporal</a:t>
            </a:r>
            <a:r>
              <a:rPr lang="it-IT" dirty="0"/>
              <a:t> Adaptation Score.</a:t>
            </a:r>
          </a:p>
          <a:p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measures</a:t>
            </a:r>
            <a:r>
              <a:rPr lang="it-IT" dirty="0"/>
              <a:t> </a:t>
            </a:r>
            <a:r>
              <a:rPr lang="it-IT" dirty="0" err="1"/>
              <a:t>how</a:t>
            </a:r>
            <a:r>
              <a:rPr lang="it-IT" dirty="0"/>
              <a:t> </a:t>
            </a:r>
            <a:r>
              <a:rPr lang="it-IT" dirty="0" err="1"/>
              <a:t>much</a:t>
            </a:r>
            <a:r>
              <a:rPr lang="it-IT" dirty="0"/>
              <a:t> the performance gap to future data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recovered</a:t>
            </a:r>
            <a:r>
              <a:rPr lang="it-IT" dirty="0"/>
              <a:t> </a:t>
            </a:r>
            <a:r>
              <a:rPr lang="it-IT" dirty="0" err="1"/>
              <a:t>through</a:t>
            </a:r>
            <a:r>
              <a:rPr lang="it-IT" dirty="0"/>
              <a:t> </a:t>
            </a:r>
            <a:r>
              <a:rPr lang="it-IT" dirty="0" err="1"/>
              <a:t>adaptation</a:t>
            </a:r>
            <a:r>
              <a:rPr lang="it-IT" dirty="0"/>
              <a:t>, relative to </a:t>
            </a:r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would</a:t>
            </a:r>
            <a:r>
              <a:rPr lang="it-IT" dirty="0"/>
              <a:t> be </a:t>
            </a:r>
            <a:r>
              <a:rPr lang="it-IT" dirty="0" err="1"/>
              <a:t>achievable</a:t>
            </a:r>
            <a:r>
              <a:rPr lang="it-IT" dirty="0"/>
              <a:t> </a:t>
            </a:r>
            <a:r>
              <a:rPr lang="it-IT" dirty="0" err="1"/>
              <a:t>if</a:t>
            </a:r>
            <a:r>
              <a:rPr lang="it-IT" dirty="0"/>
              <a:t> the model </a:t>
            </a:r>
            <a:r>
              <a:rPr lang="it-IT" dirty="0" err="1"/>
              <a:t>were</a:t>
            </a:r>
            <a:r>
              <a:rPr lang="it-IT" dirty="0"/>
              <a:t> </a:t>
            </a:r>
            <a:r>
              <a:rPr lang="it-IT" dirty="0" err="1"/>
              <a:t>trained</a:t>
            </a:r>
            <a:r>
              <a:rPr lang="it-IT" dirty="0"/>
              <a:t> </a:t>
            </a:r>
            <a:r>
              <a:rPr lang="it-IT" dirty="0" err="1"/>
              <a:t>directly</a:t>
            </a:r>
            <a:r>
              <a:rPr lang="it-IT" dirty="0"/>
              <a:t> on </a:t>
            </a:r>
            <a:r>
              <a:rPr lang="it-IT" dirty="0" err="1"/>
              <a:t>that</a:t>
            </a:r>
            <a:r>
              <a:rPr lang="it-IT" dirty="0"/>
              <a:t> future data.</a:t>
            </a:r>
          </a:p>
          <a:p>
            <a:r>
              <a:rPr lang="it-IT" dirty="0"/>
              <a:t>On </a:t>
            </a:r>
            <a:r>
              <a:rPr lang="it-IT" dirty="0" err="1"/>
              <a:t>yearbook</a:t>
            </a:r>
            <a:r>
              <a:rPr lang="it-IT" dirty="0"/>
              <a:t>, </a:t>
            </a:r>
            <a:r>
              <a:rPr lang="it-IT" dirty="0" err="1"/>
              <a:t>around</a:t>
            </a:r>
            <a:r>
              <a:rPr lang="it-IT" dirty="0"/>
              <a:t> the 1970s,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observe</a:t>
            </a:r>
            <a:r>
              <a:rPr lang="it-IT" dirty="0"/>
              <a:t> a large gap </a:t>
            </a:r>
            <a:r>
              <a:rPr lang="it-IT" dirty="0" err="1"/>
              <a:t>between</a:t>
            </a:r>
            <a:r>
              <a:rPr lang="it-IT" dirty="0"/>
              <a:t> ID and OOD </a:t>
            </a:r>
            <a:r>
              <a:rPr lang="it-IT" dirty="0" err="1"/>
              <a:t>accuracy</a:t>
            </a:r>
            <a:r>
              <a:rPr lang="it-IT" dirty="0"/>
              <a:t>, </a:t>
            </a:r>
            <a:r>
              <a:rPr lang="it-IT" dirty="0" err="1"/>
              <a:t>about</a:t>
            </a:r>
            <a:r>
              <a:rPr lang="it-IT" dirty="0"/>
              <a:t> a 22% drop. </a:t>
            </a:r>
            <a:r>
              <a:rPr lang="it-IT" dirty="0" err="1"/>
              <a:t>However</a:t>
            </a:r>
            <a:r>
              <a:rPr lang="it-IT" dirty="0"/>
              <a:t>, the TAS in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period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still</a:t>
            </a:r>
            <a:r>
              <a:rPr lang="it-IT" dirty="0"/>
              <a:t> </a:t>
            </a:r>
            <a:r>
              <a:rPr lang="it-IT" dirty="0" err="1"/>
              <a:t>around</a:t>
            </a:r>
            <a:r>
              <a:rPr lang="it-IT" dirty="0"/>
              <a:t> 90%. </a:t>
            </a:r>
          </a:p>
          <a:p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means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the model </a:t>
            </a:r>
            <a:r>
              <a:rPr lang="it-IT" dirty="0" err="1"/>
              <a:t>does</a:t>
            </a:r>
            <a:r>
              <a:rPr lang="it-IT" dirty="0"/>
              <a:t> </a:t>
            </a:r>
            <a:r>
              <a:rPr lang="it-IT" dirty="0" err="1"/>
              <a:t>lose</a:t>
            </a:r>
            <a:r>
              <a:rPr lang="it-IT" dirty="0"/>
              <a:t> some </a:t>
            </a:r>
            <a:r>
              <a:rPr lang="it-IT" dirty="0" err="1"/>
              <a:t>perforamnce</a:t>
            </a:r>
            <a:r>
              <a:rPr lang="it-IT" dirty="0"/>
              <a:t> due to </a:t>
            </a:r>
            <a:r>
              <a:rPr lang="it-IT" dirty="0" err="1"/>
              <a:t>imperfect</a:t>
            </a:r>
            <a:r>
              <a:rPr lang="it-IT" dirty="0"/>
              <a:t> </a:t>
            </a:r>
            <a:r>
              <a:rPr lang="it-IT" dirty="0" err="1"/>
              <a:t>adaptation</a:t>
            </a:r>
            <a:r>
              <a:rPr lang="it-IT" dirty="0"/>
              <a:t> (</a:t>
            </a:r>
            <a:r>
              <a:rPr lang="it-IT" dirty="0" err="1"/>
              <a:t>around</a:t>
            </a:r>
            <a:r>
              <a:rPr lang="it-IT" dirty="0"/>
              <a:t> 10%), </a:t>
            </a:r>
            <a:r>
              <a:rPr lang="it-IT" dirty="0" err="1"/>
              <a:t>but</a:t>
            </a:r>
            <a:r>
              <a:rPr lang="it-IT" dirty="0"/>
              <a:t> a large part of the drop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actually</a:t>
            </a:r>
            <a:r>
              <a:rPr lang="it-IT" dirty="0"/>
              <a:t> due to the </a:t>
            </a:r>
            <a:r>
              <a:rPr lang="it-IT" dirty="0" err="1"/>
              <a:t>fact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the task </a:t>
            </a:r>
            <a:r>
              <a:rPr lang="it-IT" dirty="0" err="1"/>
              <a:t>itself</a:t>
            </a:r>
            <a:r>
              <a:rPr lang="it-IT" dirty="0"/>
              <a:t> </a:t>
            </a:r>
            <a:r>
              <a:rPr lang="it-IT" dirty="0" err="1"/>
              <a:t>has</a:t>
            </a:r>
            <a:r>
              <a:rPr lang="it-IT" dirty="0"/>
              <a:t> </a:t>
            </a:r>
            <a:r>
              <a:rPr lang="it-IT" dirty="0" err="1"/>
              <a:t>become</a:t>
            </a:r>
            <a:r>
              <a:rPr lang="it-IT" dirty="0"/>
              <a:t> </a:t>
            </a:r>
            <a:r>
              <a:rPr lang="it-IT" dirty="0" err="1"/>
              <a:t>much</a:t>
            </a:r>
            <a:r>
              <a:rPr lang="it-IT" dirty="0"/>
              <a:t> </a:t>
            </a:r>
            <a:r>
              <a:rPr lang="it-IT" dirty="0" err="1"/>
              <a:t>harder</a:t>
            </a:r>
            <a:r>
              <a:rPr lang="it-IT" dirty="0"/>
              <a:t> in </a:t>
            </a:r>
            <a:r>
              <a:rPr lang="it-IT" dirty="0" err="1"/>
              <a:t>those</a:t>
            </a:r>
            <a:r>
              <a:rPr lang="it-IT" dirty="0"/>
              <a:t> </a:t>
            </a:r>
            <a:r>
              <a:rPr lang="it-IT" dirty="0" err="1"/>
              <a:t>years</a:t>
            </a:r>
            <a:r>
              <a:rPr lang="it-IT" dirty="0"/>
              <a:t>.</a:t>
            </a:r>
          </a:p>
          <a:p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are </a:t>
            </a:r>
            <a:r>
              <a:rPr lang="it-IT" dirty="0" err="1"/>
              <a:t>interested</a:t>
            </a:r>
            <a:r>
              <a:rPr lang="it-IT" dirty="0"/>
              <a:t>, </a:t>
            </a:r>
            <a:r>
              <a:rPr lang="it-IT" dirty="0" err="1"/>
              <a:t>I’ll</a:t>
            </a:r>
            <a:r>
              <a:rPr lang="it-IT" dirty="0"/>
              <a:t> be happy to </a:t>
            </a:r>
            <a:r>
              <a:rPr lang="it-IT" dirty="0" err="1"/>
              <a:t>discuss</a:t>
            </a:r>
            <a:r>
              <a:rPr lang="it-IT" dirty="0"/>
              <a:t> </a:t>
            </a:r>
            <a:r>
              <a:rPr lang="it-IT" dirty="0" err="1"/>
              <a:t>this</a:t>
            </a:r>
            <a:r>
              <a:rPr lang="it-IT" dirty="0"/>
              <a:t> in more </a:t>
            </a:r>
            <a:r>
              <a:rPr lang="it-IT" dirty="0" err="1"/>
              <a:t>detail</a:t>
            </a:r>
            <a:r>
              <a:rPr lang="it-IT" dirty="0"/>
              <a:t> </a:t>
            </a:r>
            <a:r>
              <a:rPr lang="it-IT" dirty="0" err="1"/>
              <a:t>during</a:t>
            </a:r>
            <a:r>
              <a:rPr lang="it-IT" dirty="0"/>
              <a:t> the poster session, </a:t>
            </a:r>
            <a:r>
              <a:rPr lang="it-IT" dirty="0" err="1"/>
              <a:t>where</a:t>
            </a:r>
            <a:r>
              <a:rPr lang="it-IT" dirty="0"/>
              <a:t> </a:t>
            </a:r>
            <a:r>
              <a:rPr lang="it-IT" dirty="0" err="1"/>
              <a:t>we</a:t>
            </a:r>
            <a:r>
              <a:rPr lang="it-IT" dirty="0"/>
              <a:t> can </a:t>
            </a:r>
            <a:r>
              <a:rPr lang="it-IT" dirty="0" err="1"/>
              <a:t>also</a:t>
            </a:r>
            <a:r>
              <a:rPr lang="it-IT" dirty="0"/>
              <a:t> show </a:t>
            </a:r>
            <a:r>
              <a:rPr lang="it-IT" dirty="0" err="1"/>
              <a:t>additional</a:t>
            </a:r>
            <a:r>
              <a:rPr lang="it-IT" dirty="0"/>
              <a:t> </a:t>
            </a:r>
            <a:r>
              <a:rPr lang="it-IT" dirty="0" err="1"/>
              <a:t>results</a:t>
            </a:r>
            <a:r>
              <a:rPr lang="it-IT" dirty="0"/>
              <a:t> and the </a:t>
            </a:r>
            <a:r>
              <a:rPr lang="it-IT" dirty="0" err="1"/>
              <a:t>other</a:t>
            </a:r>
            <a:r>
              <a:rPr lang="it-IT" dirty="0"/>
              <a:t> </a:t>
            </a:r>
            <a:r>
              <a:rPr lang="it-IT" dirty="0" err="1"/>
              <a:t>proposed</a:t>
            </a:r>
            <a:r>
              <a:rPr lang="it-IT" dirty="0"/>
              <a:t> </a:t>
            </a:r>
            <a:r>
              <a:rPr lang="it-IT" dirty="0" err="1"/>
              <a:t>metrics</a:t>
            </a:r>
            <a:r>
              <a:rPr lang="it-IT" dirty="0"/>
              <a:t>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386E1AC-05BE-38B9-64CD-430070CED6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FD1230-2E33-9F46-8D22-52CB0B7211D2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8983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3B66AC9-EF19-0770-4E92-82377F8C74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7DB0A5F-05C0-21E1-5E3E-4B63CB8F0C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E171350-66B6-65E8-55AB-D06F0D788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71C76-8A48-5449-A7FC-50523EDDEC4E}" type="datetimeFigureOut">
              <a:rPr lang="it-IT" smtClean="0"/>
              <a:t>20/01/26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3B39836-79D1-974A-08AB-C67534015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30E1BAB-BEC8-FEAB-BC96-2B5C7A7B6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FABB3-12D9-4146-8D73-9A1F9EC045E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44158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4AB5DB5-BF23-46C5-ACDA-A41A6F208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EF11BFF-1A15-70D8-5ABC-37F4848AC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CC1B910-2E68-B80A-EBF9-81FAFB333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71C76-8A48-5449-A7FC-50523EDDEC4E}" type="datetimeFigureOut">
              <a:rPr lang="it-IT" smtClean="0"/>
              <a:t>20/01/26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B57C463-9D20-58BB-CBC1-6A0655106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41992AA-5730-2903-ED99-9D236E2F7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FABB3-12D9-4146-8D73-9A1F9EC045E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48230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EC2301D-E8F4-5C36-70C4-A467AA4C2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C4AB978-8DCF-F648-D41D-EE591F81D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B3F9D45-72A8-E2D8-F359-6FA08D85E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71C76-8A48-5449-A7FC-50523EDDEC4E}" type="datetimeFigureOut">
              <a:rPr lang="it-IT" smtClean="0"/>
              <a:t>20/01/26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BA462CF-8BD2-C2F4-53A5-7C15B6DA8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AA284B2-D4C2-E60E-DDFA-EE64F1819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FABB3-12D9-4146-8D73-9A1F9EC045E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51697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5A97F8A-BF20-2811-8403-44DA11EE7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63E0C96-0F38-1EFE-7D9C-530A7BC296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248DD6B-E327-8989-9124-65A1E37E04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0B6870E-3564-90AE-20A7-0BE71A3F2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71C76-8A48-5449-A7FC-50523EDDEC4E}" type="datetimeFigureOut">
              <a:rPr lang="it-IT" smtClean="0"/>
              <a:t>20/01/26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62C9856-E6C8-C2F3-D1FC-59795D740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17A0EA1-B138-DA13-30DC-7539C8298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FABB3-12D9-4146-8D73-9A1F9EC045E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05636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5AC752F-048C-BEDB-9BC2-5E5E7D326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464BA96-5D93-1018-5A68-79BCFA74D4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D812B89-F67D-8102-2748-F6F6E5E4F5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EBA4338-C757-9A21-26B1-BC4E6B932D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F32C3DD-E4EF-885C-0BC4-2DFBB2B8FE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9357BA2-50CE-421E-EF6C-9C96254B4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71C76-8A48-5449-A7FC-50523EDDEC4E}" type="datetimeFigureOut">
              <a:rPr lang="it-IT" smtClean="0"/>
              <a:t>20/01/26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FA10DFAF-1E4B-15AC-53BD-3353E6BAD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F0283547-6DA5-1844-5F8A-B50E97BF8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FABB3-12D9-4146-8D73-9A1F9EC045E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092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AD3B648-EC69-CB48-2D79-F675AC0D0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8D6B8E3-FF79-63B1-36AE-322D2EE1B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71C76-8A48-5449-A7FC-50523EDDEC4E}" type="datetimeFigureOut">
              <a:rPr lang="it-IT" smtClean="0"/>
              <a:t>20/01/26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3382229-58FD-3608-1B9D-4BEC03CC8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46A845C-0970-D012-C2EA-C5A6CB02E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FABB3-12D9-4146-8D73-9A1F9EC045E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06479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6EB3E757-C792-7581-D3B1-CFBD7E74E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71C76-8A48-5449-A7FC-50523EDDEC4E}" type="datetimeFigureOut">
              <a:rPr lang="it-IT" smtClean="0"/>
              <a:t>20/01/26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615034A-DAE8-4CDF-3820-6F6E7220F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E210B14-F3D7-40DF-6954-609E97AE4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FABB3-12D9-4146-8D73-9A1F9EC045E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35160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6D84A48-BF67-5BC0-5CB0-DE2DEC438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7DACCF2-F1EC-2D54-1EFD-5CB9E3550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08A6050-CE02-702F-8056-2C1AFB5F92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40596BA-FFC8-DE64-3346-4E195BF0C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71C76-8A48-5449-A7FC-50523EDDEC4E}" type="datetimeFigureOut">
              <a:rPr lang="it-IT" smtClean="0"/>
              <a:t>20/01/26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826583E-2BEA-516F-6ED5-D23A64CEB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C239C80-DC30-7E8D-81A6-D82E7C87C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FABB3-12D9-4146-8D73-9A1F9EC045E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53085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76AD727-E579-4511-0352-2F37BACB8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2CAC9887-1A15-02A1-C3B0-EE8A8A43C4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69E0A0B-7D1A-33AD-3177-01BC18A32B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44BD24F-9AC4-062D-7F88-3196EE265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71C76-8A48-5449-A7FC-50523EDDEC4E}" type="datetimeFigureOut">
              <a:rPr lang="it-IT" smtClean="0"/>
              <a:t>20/01/26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B86AC6B-5F7B-C039-01F6-330B26676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54AECB6-6DA1-1CD1-7686-896E8F02E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FABB3-12D9-4146-8D73-9A1F9EC045E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05703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7B7F717-D8E5-45C0-C0A2-FCB356236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9A679C6C-D5B2-B6B9-69BA-7476F81916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98061EF-7879-C388-B76D-0BA82816B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71C76-8A48-5449-A7FC-50523EDDEC4E}" type="datetimeFigureOut">
              <a:rPr lang="it-IT" smtClean="0"/>
              <a:t>20/01/26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5B13202-BFD9-5DFD-58A7-F442A527F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C9B418C-4DB3-E0AF-F08A-0E4B26D50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FABB3-12D9-4146-8D73-9A1F9EC045E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8288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5E72CE0-163C-116D-16CB-89E48FABCA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CDB6B0FC-F391-2B71-52BE-00EE8461F4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A74DA3D-B8E1-19D6-EBB9-D0BFDF06F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71C76-8A48-5449-A7FC-50523EDDEC4E}" type="datetimeFigureOut">
              <a:rPr lang="it-IT" smtClean="0"/>
              <a:t>20/01/26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00C5D75-B149-4C15-7056-30F116739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231D88A-E157-0658-8E66-7556FA0D8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FABB3-12D9-4146-8D73-9A1F9EC045E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34907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BC42089C-476D-4023-89F7-60F068033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E17BE10-256E-5E36-5519-E62CDD06DD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ABC7C1F-0E25-AD9D-F7D7-A67FD45373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E71C76-8A48-5449-A7FC-50523EDDEC4E}" type="datetimeFigureOut">
              <a:rPr lang="it-IT" smtClean="0"/>
              <a:t>20/01/26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B751D45-F9D4-3C01-0C2D-181A16577A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CAAB952-11DA-9602-FEF6-EFD58CB58E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5FABB3-12D9-4146-8D73-9A1F9EC045E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02457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8.png"/><Relationship Id="rId3" Type="http://schemas.openxmlformats.org/officeDocument/2006/relationships/hyperlink" Target="mailto:lorenzo.iovine@polimi.it" TargetMode="External"/><Relationship Id="rId7" Type="http://schemas.openxmlformats.org/officeDocument/2006/relationships/image" Target="../media/image2.pn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11" Type="http://schemas.openxmlformats.org/officeDocument/2006/relationships/image" Target="../media/image6.png"/><Relationship Id="rId5" Type="http://schemas.openxmlformats.org/officeDocument/2006/relationships/hyperlink" Target="mailto:emanuele.dellavalle@polimi.it" TargetMode="External"/><Relationship Id="rId15" Type="http://schemas.microsoft.com/office/2007/relationships/hdphoto" Target="../media/hdphoto2.wdp"/><Relationship Id="rId10" Type="http://schemas.openxmlformats.org/officeDocument/2006/relationships/image" Target="../media/image5.png"/><Relationship Id="rId4" Type="http://schemas.openxmlformats.org/officeDocument/2006/relationships/hyperlink" Target="mailto:giacomo.ziffer@polimi.it" TargetMode="External"/><Relationship Id="rId9" Type="http://schemas.openxmlformats.org/officeDocument/2006/relationships/image" Target="../media/image4.png"/><Relationship Id="rId1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hyperlink" Target="mailto:lorenzo.iovine@polimi.it" TargetMode="Externa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hyperlink" Target="mailto:emanuele.dellavalle@polimi.it" TargetMode="External"/><Relationship Id="rId4" Type="http://schemas.openxmlformats.org/officeDocument/2006/relationships/hyperlink" Target="mailto:giacomo.ziffer@polimi.it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hyperlink" Target="mailto:lorenzo.iovine@polimi.it" TargetMode="Externa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hyperlink" Target="mailto:emanuele.dellavalle@polimi.it" TargetMode="External"/><Relationship Id="rId4" Type="http://schemas.openxmlformats.org/officeDocument/2006/relationships/hyperlink" Target="mailto:giacomo.ziffer@polimi.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1FE9EB25-7257-7FF3-6083-2CF2694AC94E}"/>
              </a:ext>
            </a:extLst>
          </p:cNvPr>
          <p:cNvSpPr/>
          <p:nvPr/>
        </p:nvSpPr>
        <p:spPr>
          <a:xfrm>
            <a:off x="262952" y="5640672"/>
            <a:ext cx="11666097" cy="7704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1" name="CasellaDiTesto 110">
            <a:extLst>
              <a:ext uri="{FF2B5EF4-FFF2-40B4-BE49-F238E27FC236}">
                <a16:creationId xmlns:a16="http://schemas.microsoft.com/office/drawing/2014/main" id="{B7D84FF7-8CB0-99B1-E381-AD88C8BB49BC}"/>
              </a:ext>
            </a:extLst>
          </p:cNvPr>
          <p:cNvSpPr txBox="1"/>
          <p:nvPr/>
        </p:nvSpPr>
        <p:spPr>
          <a:xfrm>
            <a:off x="1422057" y="5750744"/>
            <a:ext cx="2343224" cy="56172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it-IT" sz="1600" dirty="0"/>
              <a:t>Lorenzo Iovine</a:t>
            </a:r>
          </a:p>
          <a:p>
            <a:r>
              <a:rPr lang="it-IT" sz="1600" dirty="0">
                <a:hlinkClick r:id="rId3"/>
              </a:rPr>
              <a:t>lorenzo.iovine@polimi.it</a:t>
            </a:r>
            <a:endParaRPr lang="it-IT" sz="1600" dirty="0"/>
          </a:p>
        </p:txBody>
      </p:sp>
      <p:sp>
        <p:nvSpPr>
          <p:cNvPr id="3" name="CasellaDiTesto 110">
            <a:extLst>
              <a:ext uri="{FF2B5EF4-FFF2-40B4-BE49-F238E27FC236}">
                <a16:creationId xmlns:a16="http://schemas.microsoft.com/office/drawing/2014/main" id="{A9634CA0-346E-DF41-0432-1B9E82D3B16A}"/>
              </a:ext>
            </a:extLst>
          </p:cNvPr>
          <p:cNvSpPr txBox="1"/>
          <p:nvPr/>
        </p:nvSpPr>
        <p:spPr>
          <a:xfrm>
            <a:off x="4924386" y="5767463"/>
            <a:ext cx="2343224" cy="5617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it-IT" sz="1600" dirty="0"/>
              <a:t>Giacomo </a:t>
            </a:r>
            <a:r>
              <a:rPr lang="it-IT" sz="1600" dirty="0" err="1"/>
              <a:t>Ziffer</a:t>
            </a:r>
            <a:endParaRPr lang="it-IT" sz="1600" dirty="0"/>
          </a:p>
          <a:p>
            <a:r>
              <a:rPr lang="it-IT" sz="1600" dirty="0">
                <a:hlinkClick r:id="rId4"/>
              </a:rPr>
              <a:t>giacomo.ziffer@polimi.it</a:t>
            </a:r>
            <a:endParaRPr lang="it-IT" sz="1600" dirty="0"/>
          </a:p>
        </p:txBody>
      </p:sp>
      <p:sp>
        <p:nvSpPr>
          <p:cNvPr id="109" name="CasellaDiTesto 110">
            <a:extLst>
              <a:ext uri="{FF2B5EF4-FFF2-40B4-BE49-F238E27FC236}">
                <a16:creationId xmlns:a16="http://schemas.microsoft.com/office/drawing/2014/main" id="{9AB2B5FC-AAF3-9451-31C1-918FFFEE2C69}"/>
              </a:ext>
            </a:extLst>
          </p:cNvPr>
          <p:cNvSpPr txBox="1"/>
          <p:nvPr/>
        </p:nvSpPr>
        <p:spPr>
          <a:xfrm>
            <a:off x="8426715" y="5750744"/>
            <a:ext cx="2949145" cy="56171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it-IT" sz="1600" dirty="0"/>
              <a:t>Emanuele Della Valle</a:t>
            </a:r>
          </a:p>
          <a:p>
            <a:r>
              <a:rPr lang="it-IT" sz="1600" dirty="0">
                <a:hlinkClick r:id="rId5"/>
              </a:rPr>
              <a:t>emanuele.dellavalle@polimi.it</a:t>
            </a:r>
            <a:endParaRPr lang="it-IT" sz="1600" dirty="0"/>
          </a:p>
        </p:txBody>
      </p:sp>
      <p:sp>
        <p:nvSpPr>
          <p:cNvPr id="113" name="Rectangle 22">
            <a:extLst>
              <a:ext uri="{FF2B5EF4-FFF2-40B4-BE49-F238E27FC236}">
                <a16:creationId xmlns:a16="http://schemas.microsoft.com/office/drawing/2014/main" id="{B6446D44-CAC4-A9B4-2E0B-F658F69F343A}"/>
              </a:ext>
            </a:extLst>
          </p:cNvPr>
          <p:cNvSpPr/>
          <p:nvPr/>
        </p:nvSpPr>
        <p:spPr>
          <a:xfrm>
            <a:off x="0" y="12014"/>
            <a:ext cx="12191999" cy="14024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9663" tIns="14832" rIns="29663" bIns="14832" rtlCol="0" anchor="ctr"/>
          <a:lstStyle/>
          <a:p>
            <a:pPr algn="ctr"/>
            <a:endParaRPr lang="en-US" dirty="0">
              <a:latin typeface="Century Gothic"/>
              <a:cs typeface="Century Gothic"/>
            </a:endParaRPr>
          </a:p>
        </p:txBody>
      </p:sp>
      <p:pic>
        <p:nvPicPr>
          <p:cNvPr id="115" name="Picture 10">
            <a:extLst>
              <a:ext uri="{FF2B5EF4-FFF2-40B4-BE49-F238E27FC236}">
                <a16:creationId xmlns:a16="http://schemas.microsoft.com/office/drawing/2014/main" id="{1B6B328D-FB89-C4AC-6B6A-7A6F460ECD31}"/>
              </a:ext>
            </a:extLst>
          </p:cNvPr>
          <p:cNvPicPr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2951" y="83230"/>
            <a:ext cx="1260000" cy="1260000"/>
          </a:xfrm>
          <a:prstGeom prst="rect">
            <a:avLst/>
          </a:prstGeom>
        </p:spPr>
      </p:pic>
      <p:sp>
        <p:nvSpPr>
          <p:cNvPr id="117" name="Rectangle 48">
            <a:extLst>
              <a:ext uri="{FF2B5EF4-FFF2-40B4-BE49-F238E27FC236}">
                <a16:creationId xmlns:a16="http://schemas.microsoft.com/office/drawing/2014/main" id="{D2F697D2-CC5D-07BD-55F2-E394451B35D6}"/>
              </a:ext>
            </a:extLst>
          </p:cNvPr>
          <p:cNvSpPr/>
          <p:nvPr/>
        </p:nvSpPr>
        <p:spPr>
          <a:xfrm>
            <a:off x="2013253" y="316907"/>
            <a:ext cx="8165491" cy="768617"/>
          </a:xfrm>
          <a:prstGeom prst="rect">
            <a:avLst/>
          </a:prstGeom>
        </p:spPr>
        <p:txBody>
          <a:bodyPr wrap="square" lIns="29663" tIns="14832" rIns="29663" bIns="14832">
            <a:spAutoFit/>
          </a:bodyPr>
          <a:lstStyle/>
          <a:p>
            <a:pPr lvl="0" algn="ctr" defTabSz="957734">
              <a:defRPr/>
            </a:pPr>
            <a:r>
              <a:rPr lang="en-US" sz="2400" spc="16" dirty="0">
                <a:ln w="12700" cmpd="sng">
                  <a:noFill/>
                  <a:prstDash val="solid"/>
                </a:ln>
                <a:solidFill>
                  <a:prstClr val="white"/>
                </a:solidFill>
                <a:latin typeface="Century Gothic"/>
                <a:cs typeface="Century Gothic"/>
              </a:rPr>
              <a:t>Tracking Adaptation Time:</a:t>
            </a:r>
          </a:p>
          <a:p>
            <a:pPr lvl="0" algn="ctr" defTabSz="957734">
              <a:defRPr/>
            </a:pPr>
            <a:r>
              <a:rPr lang="en-US" sz="2400" spc="16" dirty="0">
                <a:ln w="12700" cmpd="sng">
                  <a:noFill/>
                  <a:prstDash val="solid"/>
                </a:ln>
                <a:solidFill>
                  <a:prstClr val="white"/>
                </a:solidFill>
                <a:latin typeface="Century Gothic"/>
                <a:cs typeface="Century Gothic"/>
              </a:rPr>
              <a:t>Metrics for Temporal Distribution Shift</a:t>
            </a:r>
          </a:p>
        </p:txBody>
      </p:sp>
      <p:pic>
        <p:nvPicPr>
          <p:cNvPr id="119" name="Immagine 118">
            <a:extLst>
              <a:ext uri="{FF2B5EF4-FFF2-40B4-BE49-F238E27FC236}">
                <a16:creationId xmlns:a16="http://schemas.microsoft.com/office/drawing/2014/main" id="{0C3C881A-1EB3-FF94-238B-0AB48C8C5054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10759048" y="128230"/>
            <a:ext cx="1170000" cy="1170000"/>
          </a:xfrm>
          <a:prstGeom prst="rect">
            <a:avLst/>
          </a:prstGeom>
        </p:spPr>
      </p:pic>
      <p:sp>
        <p:nvSpPr>
          <p:cNvPr id="110" name="Rectangle 30">
            <a:extLst>
              <a:ext uri="{FF2B5EF4-FFF2-40B4-BE49-F238E27FC236}">
                <a16:creationId xmlns:a16="http://schemas.microsoft.com/office/drawing/2014/main" id="{0E9F5235-F3B7-3960-5BD7-AA9BEA056DDF}"/>
              </a:ext>
            </a:extLst>
          </p:cNvPr>
          <p:cNvSpPr/>
          <p:nvPr/>
        </p:nvSpPr>
        <p:spPr>
          <a:xfrm>
            <a:off x="0" y="6629174"/>
            <a:ext cx="12191999" cy="228826"/>
          </a:xfrm>
          <a:prstGeom prst="rect">
            <a:avLst/>
          </a:prstGeom>
          <a:solidFill>
            <a:srgbClr val="35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9663" tIns="14832" rIns="29663" bIns="14832" rtlCol="0" anchor="ctr"/>
          <a:lstStyle/>
          <a:p>
            <a:pPr algn="ctr"/>
            <a:endParaRPr lang="en-US" dirty="0">
              <a:latin typeface="Century Gothic"/>
              <a:cs typeface="Century Gothic"/>
            </a:endParaRPr>
          </a:p>
        </p:txBody>
      </p:sp>
      <p:sp>
        <p:nvSpPr>
          <p:cNvPr id="116" name="Rectangle 18">
            <a:extLst>
              <a:ext uri="{FF2B5EF4-FFF2-40B4-BE49-F238E27FC236}">
                <a16:creationId xmlns:a16="http://schemas.microsoft.com/office/drawing/2014/main" id="{9087CA0C-7450-D1CD-368F-CA6A434E3FE5}"/>
              </a:ext>
            </a:extLst>
          </p:cNvPr>
          <p:cNvSpPr/>
          <p:nvPr/>
        </p:nvSpPr>
        <p:spPr>
          <a:xfrm>
            <a:off x="0" y="6656757"/>
            <a:ext cx="12191999" cy="183842"/>
          </a:xfrm>
          <a:prstGeom prst="rect">
            <a:avLst/>
          </a:prstGeom>
          <a:ln>
            <a:noFill/>
          </a:ln>
        </p:spPr>
        <p:txBody>
          <a:bodyPr wrap="square" lIns="29663" tIns="14832" rIns="29663" bIns="14832">
            <a:spAutoFit/>
          </a:bodyPr>
          <a:lstStyle/>
          <a:p>
            <a:r>
              <a:rPr lang="en-US" sz="1000" b="1" spc="16" dirty="0">
                <a:ln w="12700" cmpd="sng">
                  <a:noFill/>
                  <a:prstDash val="solid"/>
                </a:ln>
                <a:solidFill>
                  <a:prstClr val="white"/>
                </a:solidFill>
                <a:effectLst>
                  <a:glow rad="53100">
                    <a:srgbClr val="F79646">
                      <a:satMod val="180000"/>
                      <a:alpha val="30000"/>
                    </a:srgbClr>
                  </a:glow>
                </a:effectLst>
                <a:latin typeface="Century Gothic"/>
                <a:cs typeface="Century Gothic"/>
              </a:rPr>
              <a:t> Streaming Continual Learning AAAI Bridge                                                                                                                                                                                                              Singapore, January 21, 2026</a:t>
            </a:r>
            <a:endParaRPr lang="en-US" sz="1000" b="1" spc="16" dirty="0">
              <a:ln w="12700" cmpd="sng">
                <a:noFill/>
                <a:prstDash val="solid"/>
              </a:ln>
              <a:solidFill>
                <a:schemeClr val="bg1"/>
              </a:solidFill>
              <a:effectLst>
                <a:glow rad="53100">
                  <a:schemeClr val="tx2">
                    <a:lumMod val="10000"/>
                    <a:lumOff val="90000"/>
                    <a:alpha val="30000"/>
                  </a:schemeClr>
                </a:glow>
              </a:effectLst>
              <a:latin typeface="Century Gothic"/>
              <a:cs typeface="Century Gothic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0E00CD65-5BCE-C717-6387-205AF397C0E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8407" y="2962173"/>
            <a:ext cx="1696155" cy="1130770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23D890D1-CBA4-B626-2290-3005781555A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54284" y="3134894"/>
            <a:ext cx="1696155" cy="1130770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B12AF49E-AA82-B14D-BE7E-257E72FBA7E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3791" y="3063774"/>
            <a:ext cx="1696155" cy="1130770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20A7565B-1250-C007-7FB7-2EDD4F6024F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13253" y="2633252"/>
            <a:ext cx="1696157" cy="1130771"/>
          </a:xfrm>
          <a:prstGeom prst="rect">
            <a:avLst/>
          </a:prstGeom>
        </p:spPr>
      </p:pic>
      <p:cxnSp>
        <p:nvCxnSpPr>
          <p:cNvPr id="15" name="Connettore dritto 14">
            <a:extLst>
              <a:ext uri="{FF2B5EF4-FFF2-40B4-BE49-F238E27FC236}">
                <a16:creationId xmlns:a16="http://schemas.microsoft.com/office/drawing/2014/main" id="{11637183-F43E-D395-8D10-A154E511B944}"/>
              </a:ext>
            </a:extLst>
          </p:cNvPr>
          <p:cNvCxnSpPr>
            <a:cxnSpLocks/>
          </p:cNvCxnSpPr>
          <p:nvPr/>
        </p:nvCxnSpPr>
        <p:spPr>
          <a:xfrm>
            <a:off x="3911600" y="1580444"/>
            <a:ext cx="0" cy="32286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Immagine 17">
            <a:extLst>
              <a:ext uri="{FF2B5EF4-FFF2-40B4-BE49-F238E27FC236}">
                <a16:creationId xmlns:a16="http://schemas.microsoft.com/office/drawing/2014/main" id="{551DA292-AD69-A908-FE89-84214DF6321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32941" y="2629369"/>
            <a:ext cx="1696157" cy="1130771"/>
          </a:xfrm>
          <a:prstGeom prst="rect">
            <a:avLst/>
          </a:prstGeom>
        </p:spPr>
      </p:pic>
      <p:cxnSp>
        <p:nvCxnSpPr>
          <p:cNvPr id="21" name="Connettore dritto 20">
            <a:extLst>
              <a:ext uri="{FF2B5EF4-FFF2-40B4-BE49-F238E27FC236}">
                <a16:creationId xmlns:a16="http://schemas.microsoft.com/office/drawing/2014/main" id="{C9C6F0A4-3AFD-B3DD-2EE9-F4A05A518B1C}"/>
              </a:ext>
            </a:extLst>
          </p:cNvPr>
          <p:cNvCxnSpPr>
            <a:cxnSpLocks/>
          </p:cNvCxnSpPr>
          <p:nvPr/>
        </p:nvCxnSpPr>
        <p:spPr>
          <a:xfrm>
            <a:off x="7631289" y="1619955"/>
            <a:ext cx="0" cy="32286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Immagine 21">
            <a:extLst>
              <a:ext uri="{FF2B5EF4-FFF2-40B4-BE49-F238E27FC236}">
                <a16:creationId xmlns:a16="http://schemas.microsoft.com/office/drawing/2014/main" id="{B1208E2B-B1F6-C610-BBC0-6D69FE25DA3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66196" y="2548571"/>
            <a:ext cx="1696157" cy="1130771"/>
          </a:xfrm>
          <a:prstGeom prst="rect">
            <a:avLst/>
          </a:prstGeom>
        </p:spPr>
      </p:pic>
      <p:pic>
        <p:nvPicPr>
          <p:cNvPr id="24" name="Immagine 23">
            <a:extLst>
              <a:ext uri="{FF2B5EF4-FFF2-40B4-BE49-F238E27FC236}">
                <a16:creationId xmlns:a16="http://schemas.microsoft.com/office/drawing/2014/main" id="{57239AFA-C48A-3375-0AAB-AA99EED0F61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100000"/>
                    </a14:imgEffect>
                    <a14:imgEffect>
                      <a14:brightnessContrast contrast="100000"/>
                    </a14:imgEffect>
                  </a14:imgLayer>
                </a14:imgProps>
              </a:ext>
            </a:extLst>
          </a:blip>
          <a:srcRect l="14288" t="24373" r="22167" b="28030"/>
          <a:stretch>
            <a:fillRect/>
          </a:stretch>
        </p:blipFill>
        <p:spPr>
          <a:xfrm rot="10800000">
            <a:off x="9143204" y="2909351"/>
            <a:ext cx="598311" cy="298773"/>
          </a:xfrm>
          <a:prstGeom prst="rect">
            <a:avLst/>
          </a:prstGeom>
        </p:spPr>
      </p:pic>
      <p:pic>
        <p:nvPicPr>
          <p:cNvPr id="25" name="Immagine 24">
            <a:extLst>
              <a:ext uri="{FF2B5EF4-FFF2-40B4-BE49-F238E27FC236}">
                <a16:creationId xmlns:a16="http://schemas.microsoft.com/office/drawing/2014/main" id="{8A2AF40D-70F0-7DA6-B0F3-FC7AA28A74B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harpenSoften amount="100000"/>
                    </a14:imgEffect>
                    <a14:imgEffect>
                      <a14:brightnessContrast contrast="100000"/>
                    </a14:imgEffect>
                  </a14:imgLayer>
                </a14:imgProps>
              </a:ext>
            </a:extLst>
          </a:blip>
          <a:srcRect l="14288" t="24373" r="22167" b="28030"/>
          <a:stretch>
            <a:fillRect/>
          </a:stretch>
        </p:blipFill>
        <p:spPr>
          <a:xfrm rot="10800000">
            <a:off x="9143203" y="3201127"/>
            <a:ext cx="598311" cy="298773"/>
          </a:xfrm>
          <a:prstGeom prst="rect">
            <a:avLst/>
          </a:prstGeom>
        </p:spPr>
      </p:pic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E665D510-BBD6-46E6-159A-EE4960C35829}"/>
              </a:ext>
            </a:extLst>
          </p:cNvPr>
          <p:cNvSpPr txBox="1"/>
          <p:nvPr/>
        </p:nvSpPr>
        <p:spPr>
          <a:xfrm>
            <a:off x="1303973" y="4360912"/>
            <a:ext cx="142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/>
              <a:t>Train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0E5512D2-9651-164E-7478-C52122C154C0}"/>
              </a:ext>
            </a:extLst>
          </p:cNvPr>
          <p:cNvSpPr txBox="1"/>
          <p:nvPr/>
        </p:nvSpPr>
        <p:spPr>
          <a:xfrm>
            <a:off x="4547712" y="4222413"/>
            <a:ext cx="2370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/>
              <a:t>Consistent</a:t>
            </a:r>
            <a:r>
              <a:rPr lang="it-IT" b="1" dirty="0"/>
              <a:t> Out-Of-Distribution Test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F3EA05DB-4884-85A0-D026-1BAECB3DC2EB}"/>
              </a:ext>
            </a:extLst>
          </p:cNvPr>
          <p:cNvSpPr txBox="1"/>
          <p:nvPr/>
        </p:nvSpPr>
        <p:spPr>
          <a:xfrm>
            <a:off x="8305901" y="4222413"/>
            <a:ext cx="22934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/>
              <a:t>Harder Out-Of-Distribution Test</a:t>
            </a:r>
          </a:p>
        </p:txBody>
      </p:sp>
      <p:sp>
        <p:nvSpPr>
          <p:cNvPr id="29" name="Fumetto 4 28">
            <a:extLst>
              <a:ext uri="{FF2B5EF4-FFF2-40B4-BE49-F238E27FC236}">
                <a16:creationId xmlns:a16="http://schemas.microsoft.com/office/drawing/2014/main" id="{269A8401-1CF1-5387-E061-4A78704D0939}"/>
              </a:ext>
            </a:extLst>
          </p:cNvPr>
          <p:cNvSpPr/>
          <p:nvPr/>
        </p:nvSpPr>
        <p:spPr>
          <a:xfrm>
            <a:off x="840717" y="2122862"/>
            <a:ext cx="1642534" cy="750711"/>
          </a:xfrm>
          <a:prstGeom prst="cloudCallout">
            <a:avLst>
              <a:gd name="adj1" fmla="val -22689"/>
              <a:gd name="adj2" fmla="val 76711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Seen</a:t>
            </a:r>
            <a:r>
              <a:rPr lang="it-IT" sz="1400" dirty="0"/>
              <a:t> </a:t>
            </a:r>
            <a:r>
              <a:rPr lang="it-IT" sz="1400" dirty="0" err="1"/>
              <a:t>this</a:t>
            </a:r>
            <a:r>
              <a:rPr lang="it-IT" sz="1400" dirty="0"/>
              <a:t> </a:t>
            </a:r>
            <a:r>
              <a:rPr lang="it-IT" sz="1400" dirty="0" err="1"/>
              <a:t>before</a:t>
            </a:r>
            <a:endParaRPr lang="it-IT" sz="1400" dirty="0"/>
          </a:p>
        </p:txBody>
      </p:sp>
      <p:sp>
        <p:nvSpPr>
          <p:cNvPr id="30" name="Fumetto 4 29">
            <a:extLst>
              <a:ext uri="{FF2B5EF4-FFF2-40B4-BE49-F238E27FC236}">
                <a16:creationId xmlns:a16="http://schemas.microsoft.com/office/drawing/2014/main" id="{F275340B-7967-4DD6-5D9F-2B4F30160974}"/>
              </a:ext>
            </a:extLst>
          </p:cNvPr>
          <p:cNvSpPr/>
          <p:nvPr/>
        </p:nvSpPr>
        <p:spPr>
          <a:xfrm>
            <a:off x="8465141" y="2122862"/>
            <a:ext cx="1665551" cy="750711"/>
          </a:xfrm>
          <a:prstGeom prst="cloudCallout">
            <a:avLst>
              <a:gd name="adj1" fmla="val -24305"/>
              <a:gd name="adj2" fmla="val 93264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What</a:t>
            </a:r>
            <a:r>
              <a:rPr lang="it-IT" sz="1400" dirty="0"/>
              <a:t> </a:t>
            </a:r>
            <a:r>
              <a:rPr lang="it-IT" sz="1400" dirty="0" err="1"/>
              <a:t>is</a:t>
            </a:r>
            <a:r>
              <a:rPr lang="it-IT" sz="1400" dirty="0"/>
              <a:t> happening?</a:t>
            </a:r>
          </a:p>
        </p:txBody>
      </p:sp>
      <p:sp>
        <p:nvSpPr>
          <p:cNvPr id="31" name="Fumetto 4 30">
            <a:extLst>
              <a:ext uri="{FF2B5EF4-FFF2-40B4-BE49-F238E27FC236}">
                <a16:creationId xmlns:a16="http://schemas.microsoft.com/office/drawing/2014/main" id="{7D9C8FB5-A233-5F12-E6C7-2A701BDF20FF}"/>
              </a:ext>
            </a:extLst>
          </p:cNvPr>
          <p:cNvSpPr/>
          <p:nvPr/>
        </p:nvSpPr>
        <p:spPr>
          <a:xfrm>
            <a:off x="4613723" y="2122862"/>
            <a:ext cx="1642534" cy="750711"/>
          </a:xfrm>
          <a:prstGeom prst="cloudCallout">
            <a:avLst>
              <a:gd name="adj1" fmla="val -22688"/>
              <a:gd name="adj2" fmla="val 89568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/>
              <a:t>I can do </a:t>
            </a:r>
            <a:r>
              <a:rPr lang="it-IT" sz="1400" dirty="0" err="1"/>
              <a:t>it!</a:t>
            </a:r>
            <a:endParaRPr lang="it-IT" sz="1400" dirty="0"/>
          </a:p>
        </p:txBody>
      </p:sp>
      <p:cxnSp>
        <p:nvCxnSpPr>
          <p:cNvPr id="5" name="Connettore dritto 4">
            <a:extLst>
              <a:ext uri="{FF2B5EF4-FFF2-40B4-BE49-F238E27FC236}">
                <a16:creationId xmlns:a16="http://schemas.microsoft.com/office/drawing/2014/main" id="{0B91A750-F527-7134-929B-5A28BBEAEDEA}"/>
              </a:ext>
            </a:extLst>
          </p:cNvPr>
          <p:cNvCxnSpPr>
            <a:cxnSpLocks/>
          </p:cNvCxnSpPr>
          <p:nvPr/>
        </p:nvCxnSpPr>
        <p:spPr>
          <a:xfrm flipV="1">
            <a:off x="722489" y="3463109"/>
            <a:ext cx="2590184" cy="62983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Connettore dritto 13">
            <a:extLst>
              <a:ext uri="{FF2B5EF4-FFF2-40B4-BE49-F238E27FC236}">
                <a16:creationId xmlns:a16="http://schemas.microsoft.com/office/drawing/2014/main" id="{5EABF0D2-BC87-D599-0831-B555F516C299}"/>
              </a:ext>
            </a:extLst>
          </p:cNvPr>
          <p:cNvCxnSpPr>
            <a:cxnSpLocks/>
          </p:cNvCxnSpPr>
          <p:nvPr/>
        </p:nvCxnSpPr>
        <p:spPr>
          <a:xfrm flipV="1">
            <a:off x="567560" y="3463109"/>
            <a:ext cx="1846487" cy="4289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Connettore dritto 32">
            <a:extLst>
              <a:ext uri="{FF2B5EF4-FFF2-40B4-BE49-F238E27FC236}">
                <a16:creationId xmlns:a16="http://schemas.microsoft.com/office/drawing/2014/main" id="{25875DB3-0373-20C1-ACEE-5996D5EFD3EA}"/>
              </a:ext>
            </a:extLst>
          </p:cNvPr>
          <p:cNvCxnSpPr>
            <a:cxnSpLocks/>
          </p:cNvCxnSpPr>
          <p:nvPr/>
        </p:nvCxnSpPr>
        <p:spPr>
          <a:xfrm flipV="1">
            <a:off x="4438664" y="3532214"/>
            <a:ext cx="2590184" cy="62983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Connettore dritto 33">
            <a:extLst>
              <a:ext uri="{FF2B5EF4-FFF2-40B4-BE49-F238E27FC236}">
                <a16:creationId xmlns:a16="http://schemas.microsoft.com/office/drawing/2014/main" id="{E00D1D79-DB7B-8091-264C-0D66694D8FA0}"/>
              </a:ext>
            </a:extLst>
          </p:cNvPr>
          <p:cNvCxnSpPr>
            <a:cxnSpLocks/>
          </p:cNvCxnSpPr>
          <p:nvPr/>
        </p:nvCxnSpPr>
        <p:spPr>
          <a:xfrm flipV="1">
            <a:off x="4308337" y="3535174"/>
            <a:ext cx="1830277" cy="4430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Figura a mano libera 37">
            <a:extLst>
              <a:ext uri="{FF2B5EF4-FFF2-40B4-BE49-F238E27FC236}">
                <a16:creationId xmlns:a16="http://schemas.microsoft.com/office/drawing/2014/main" id="{94070CA6-FF86-8733-43CF-4B2C92EF9CCA}"/>
              </a:ext>
            </a:extLst>
          </p:cNvPr>
          <p:cNvSpPr/>
          <p:nvPr/>
        </p:nvSpPr>
        <p:spPr>
          <a:xfrm rot="21030081">
            <a:off x="8912351" y="3561031"/>
            <a:ext cx="1869831" cy="467571"/>
          </a:xfrm>
          <a:custGeom>
            <a:avLst/>
            <a:gdLst>
              <a:gd name="csX0" fmla="*/ 0 w 1869831"/>
              <a:gd name="csY0" fmla="*/ 467571 h 467571"/>
              <a:gd name="csX1" fmla="*/ 175847 w 1869831"/>
              <a:gd name="csY1" fmla="*/ 244833 h 467571"/>
              <a:gd name="csX2" fmla="*/ 416170 w 1869831"/>
              <a:gd name="csY2" fmla="*/ 408956 h 467571"/>
              <a:gd name="csX3" fmla="*/ 668216 w 1869831"/>
              <a:gd name="csY3" fmla="*/ 192079 h 467571"/>
              <a:gd name="csX4" fmla="*/ 967154 w 1869831"/>
              <a:gd name="csY4" fmla="*/ 338618 h 467571"/>
              <a:gd name="csX5" fmla="*/ 1225062 w 1869831"/>
              <a:gd name="csY5" fmla="*/ 45541 h 467571"/>
              <a:gd name="csX6" fmla="*/ 1459524 w 1869831"/>
              <a:gd name="csY6" fmla="*/ 174495 h 467571"/>
              <a:gd name="csX7" fmla="*/ 1559170 w 1869831"/>
              <a:gd name="csY7" fmla="*/ 4510 h 467571"/>
              <a:gd name="csX8" fmla="*/ 1869831 w 1869831"/>
              <a:gd name="csY8" fmla="*/ 57264 h 4675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869831" h="467571">
                <a:moveTo>
                  <a:pt x="0" y="467571"/>
                </a:moveTo>
                <a:cubicBezTo>
                  <a:pt x="53242" y="361086"/>
                  <a:pt x="106485" y="254602"/>
                  <a:pt x="175847" y="244833"/>
                </a:cubicBezTo>
                <a:cubicBezTo>
                  <a:pt x="245209" y="235064"/>
                  <a:pt x="334109" y="417748"/>
                  <a:pt x="416170" y="408956"/>
                </a:cubicBezTo>
                <a:cubicBezTo>
                  <a:pt x="498232" y="400164"/>
                  <a:pt x="576385" y="203802"/>
                  <a:pt x="668216" y="192079"/>
                </a:cubicBezTo>
                <a:cubicBezTo>
                  <a:pt x="760047" y="180356"/>
                  <a:pt x="874346" y="363041"/>
                  <a:pt x="967154" y="338618"/>
                </a:cubicBezTo>
                <a:cubicBezTo>
                  <a:pt x="1059962" y="314195"/>
                  <a:pt x="1143000" y="72895"/>
                  <a:pt x="1225062" y="45541"/>
                </a:cubicBezTo>
                <a:cubicBezTo>
                  <a:pt x="1307124" y="18187"/>
                  <a:pt x="1403839" y="181333"/>
                  <a:pt x="1459524" y="174495"/>
                </a:cubicBezTo>
                <a:cubicBezTo>
                  <a:pt x="1515209" y="167657"/>
                  <a:pt x="1490786" y="24048"/>
                  <a:pt x="1559170" y="4510"/>
                </a:cubicBezTo>
                <a:cubicBezTo>
                  <a:pt x="1627554" y="-15028"/>
                  <a:pt x="1809262" y="33818"/>
                  <a:pt x="1869831" y="57264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9" name="Figura a mano libera 38">
            <a:extLst>
              <a:ext uri="{FF2B5EF4-FFF2-40B4-BE49-F238E27FC236}">
                <a16:creationId xmlns:a16="http://schemas.microsoft.com/office/drawing/2014/main" id="{C0816E87-9502-CCDF-450E-DE6682CD0FFC}"/>
              </a:ext>
            </a:extLst>
          </p:cNvPr>
          <p:cNvSpPr/>
          <p:nvPr/>
        </p:nvSpPr>
        <p:spPr>
          <a:xfrm rot="21030081">
            <a:off x="8042098" y="3550442"/>
            <a:ext cx="1869831" cy="467571"/>
          </a:xfrm>
          <a:custGeom>
            <a:avLst/>
            <a:gdLst>
              <a:gd name="csX0" fmla="*/ 0 w 1869831"/>
              <a:gd name="csY0" fmla="*/ 467571 h 467571"/>
              <a:gd name="csX1" fmla="*/ 175847 w 1869831"/>
              <a:gd name="csY1" fmla="*/ 244833 h 467571"/>
              <a:gd name="csX2" fmla="*/ 416170 w 1869831"/>
              <a:gd name="csY2" fmla="*/ 408956 h 467571"/>
              <a:gd name="csX3" fmla="*/ 668216 w 1869831"/>
              <a:gd name="csY3" fmla="*/ 192079 h 467571"/>
              <a:gd name="csX4" fmla="*/ 967154 w 1869831"/>
              <a:gd name="csY4" fmla="*/ 338618 h 467571"/>
              <a:gd name="csX5" fmla="*/ 1225062 w 1869831"/>
              <a:gd name="csY5" fmla="*/ 45541 h 467571"/>
              <a:gd name="csX6" fmla="*/ 1459524 w 1869831"/>
              <a:gd name="csY6" fmla="*/ 174495 h 467571"/>
              <a:gd name="csX7" fmla="*/ 1559170 w 1869831"/>
              <a:gd name="csY7" fmla="*/ 4510 h 467571"/>
              <a:gd name="csX8" fmla="*/ 1869831 w 1869831"/>
              <a:gd name="csY8" fmla="*/ 57264 h 4675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869831" h="467571">
                <a:moveTo>
                  <a:pt x="0" y="467571"/>
                </a:moveTo>
                <a:cubicBezTo>
                  <a:pt x="53242" y="361086"/>
                  <a:pt x="106485" y="254602"/>
                  <a:pt x="175847" y="244833"/>
                </a:cubicBezTo>
                <a:cubicBezTo>
                  <a:pt x="245209" y="235064"/>
                  <a:pt x="334109" y="417748"/>
                  <a:pt x="416170" y="408956"/>
                </a:cubicBezTo>
                <a:cubicBezTo>
                  <a:pt x="498232" y="400164"/>
                  <a:pt x="576385" y="203802"/>
                  <a:pt x="668216" y="192079"/>
                </a:cubicBezTo>
                <a:cubicBezTo>
                  <a:pt x="760047" y="180356"/>
                  <a:pt x="874346" y="363041"/>
                  <a:pt x="967154" y="338618"/>
                </a:cubicBezTo>
                <a:cubicBezTo>
                  <a:pt x="1059962" y="314195"/>
                  <a:pt x="1143000" y="72895"/>
                  <a:pt x="1225062" y="45541"/>
                </a:cubicBezTo>
                <a:cubicBezTo>
                  <a:pt x="1307124" y="18187"/>
                  <a:pt x="1403839" y="181333"/>
                  <a:pt x="1459524" y="174495"/>
                </a:cubicBezTo>
                <a:cubicBezTo>
                  <a:pt x="1515209" y="167657"/>
                  <a:pt x="1490786" y="24048"/>
                  <a:pt x="1559170" y="4510"/>
                </a:cubicBezTo>
                <a:cubicBezTo>
                  <a:pt x="1627554" y="-15028"/>
                  <a:pt x="1809262" y="33818"/>
                  <a:pt x="1869831" y="57264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20259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4FAF0-B6A6-72F8-4336-59EE06560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8F7011FF-BF9F-C48F-7BF0-4C1900DBA557}"/>
              </a:ext>
            </a:extLst>
          </p:cNvPr>
          <p:cNvSpPr/>
          <p:nvPr/>
        </p:nvSpPr>
        <p:spPr>
          <a:xfrm>
            <a:off x="262952" y="5640672"/>
            <a:ext cx="11666097" cy="7704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1" name="CasellaDiTesto 110">
            <a:extLst>
              <a:ext uri="{FF2B5EF4-FFF2-40B4-BE49-F238E27FC236}">
                <a16:creationId xmlns:a16="http://schemas.microsoft.com/office/drawing/2014/main" id="{9C2D6835-E357-53A1-5B31-2C36B79FB3CC}"/>
              </a:ext>
            </a:extLst>
          </p:cNvPr>
          <p:cNvSpPr txBox="1"/>
          <p:nvPr/>
        </p:nvSpPr>
        <p:spPr>
          <a:xfrm>
            <a:off x="1422057" y="5750744"/>
            <a:ext cx="2343224" cy="56172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it-IT" sz="1600" dirty="0"/>
              <a:t>Lorenzo Iovine</a:t>
            </a:r>
          </a:p>
          <a:p>
            <a:r>
              <a:rPr lang="it-IT" sz="1600" dirty="0">
                <a:hlinkClick r:id="rId3"/>
              </a:rPr>
              <a:t>lorenzo.iovine@polimi.it</a:t>
            </a:r>
            <a:endParaRPr lang="it-IT" sz="1600" dirty="0"/>
          </a:p>
        </p:txBody>
      </p:sp>
      <p:sp>
        <p:nvSpPr>
          <p:cNvPr id="3" name="CasellaDiTesto 110">
            <a:extLst>
              <a:ext uri="{FF2B5EF4-FFF2-40B4-BE49-F238E27FC236}">
                <a16:creationId xmlns:a16="http://schemas.microsoft.com/office/drawing/2014/main" id="{7959CC27-A7CD-742E-BC14-1F276DF0259F}"/>
              </a:ext>
            </a:extLst>
          </p:cNvPr>
          <p:cNvSpPr txBox="1"/>
          <p:nvPr/>
        </p:nvSpPr>
        <p:spPr>
          <a:xfrm>
            <a:off x="4924386" y="5767463"/>
            <a:ext cx="2343224" cy="5617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it-IT" sz="1600" dirty="0"/>
              <a:t>Giacomo </a:t>
            </a:r>
            <a:r>
              <a:rPr lang="it-IT" sz="1600" dirty="0" err="1"/>
              <a:t>Ziffer</a:t>
            </a:r>
            <a:endParaRPr lang="it-IT" sz="1600" dirty="0"/>
          </a:p>
          <a:p>
            <a:r>
              <a:rPr lang="it-IT" sz="1600" dirty="0">
                <a:hlinkClick r:id="rId4"/>
              </a:rPr>
              <a:t>giacomo.ziffer@polimi.it</a:t>
            </a:r>
            <a:endParaRPr lang="it-IT" sz="1600" dirty="0"/>
          </a:p>
        </p:txBody>
      </p:sp>
      <p:sp>
        <p:nvSpPr>
          <p:cNvPr id="109" name="CasellaDiTesto 110">
            <a:extLst>
              <a:ext uri="{FF2B5EF4-FFF2-40B4-BE49-F238E27FC236}">
                <a16:creationId xmlns:a16="http://schemas.microsoft.com/office/drawing/2014/main" id="{34BBF3A9-DC39-1D38-6494-C99711D5EBEA}"/>
              </a:ext>
            </a:extLst>
          </p:cNvPr>
          <p:cNvSpPr txBox="1"/>
          <p:nvPr/>
        </p:nvSpPr>
        <p:spPr>
          <a:xfrm>
            <a:off x="8426715" y="5750744"/>
            <a:ext cx="2949145" cy="56171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it-IT" sz="1600" dirty="0"/>
              <a:t>Emanuele Della Valle</a:t>
            </a:r>
          </a:p>
          <a:p>
            <a:r>
              <a:rPr lang="it-IT" sz="1600" dirty="0">
                <a:hlinkClick r:id="rId5"/>
              </a:rPr>
              <a:t>emanuele.dellavalle@polimi.it</a:t>
            </a:r>
            <a:endParaRPr lang="it-IT" sz="1600" dirty="0"/>
          </a:p>
        </p:txBody>
      </p:sp>
      <p:sp>
        <p:nvSpPr>
          <p:cNvPr id="113" name="Rectangle 22">
            <a:extLst>
              <a:ext uri="{FF2B5EF4-FFF2-40B4-BE49-F238E27FC236}">
                <a16:creationId xmlns:a16="http://schemas.microsoft.com/office/drawing/2014/main" id="{9FD2F3F6-B2BA-DCD2-9DC7-778E1D2A7E33}"/>
              </a:ext>
            </a:extLst>
          </p:cNvPr>
          <p:cNvSpPr/>
          <p:nvPr/>
        </p:nvSpPr>
        <p:spPr>
          <a:xfrm>
            <a:off x="0" y="12014"/>
            <a:ext cx="12191999" cy="14024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9663" tIns="14832" rIns="29663" bIns="14832" rtlCol="0" anchor="ctr"/>
          <a:lstStyle/>
          <a:p>
            <a:pPr algn="ctr"/>
            <a:endParaRPr lang="en-US" dirty="0">
              <a:latin typeface="Century Gothic"/>
              <a:cs typeface="Century Gothic"/>
            </a:endParaRPr>
          </a:p>
        </p:txBody>
      </p:sp>
      <p:pic>
        <p:nvPicPr>
          <p:cNvPr id="115" name="Picture 10">
            <a:extLst>
              <a:ext uri="{FF2B5EF4-FFF2-40B4-BE49-F238E27FC236}">
                <a16:creationId xmlns:a16="http://schemas.microsoft.com/office/drawing/2014/main" id="{614C9C56-4185-D4DB-B050-FB5C98CE326C}"/>
              </a:ext>
            </a:extLst>
          </p:cNvPr>
          <p:cNvPicPr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2951" y="83230"/>
            <a:ext cx="1260000" cy="1260000"/>
          </a:xfrm>
          <a:prstGeom prst="rect">
            <a:avLst/>
          </a:prstGeom>
        </p:spPr>
      </p:pic>
      <p:sp>
        <p:nvSpPr>
          <p:cNvPr id="117" name="Rectangle 48">
            <a:extLst>
              <a:ext uri="{FF2B5EF4-FFF2-40B4-BE49-F238E27FC236}">
                <a16:creationId xmlns:a16="http://schemas.microsoft.com/office/drawing/2014/main" id="{E74B1893-4C94-D896-6369-75141F5F13DC}"/>
              </a:ext>
            </a:extLst>
          </p:cNvPr>
          <p:cNvSpPr/>
          <p:nvPr/>
        </p:nvSpPr>
        <p:spPr>
          <a:xfrm>
            <a:off x="2013253" y="316907"/>
            <a:ext cx="8165491" cy="768617"/>
          </a:xfrm>
          <a:prstGeom prst="rect">
            <a:avLst/>
          </a:prstGeom>
        </p:spPr>
        <p:txBody>
          <a:bodyPr wrap="square" lIns="29663" tIns="14832" rIns="29663" bIns="14832">
            <a:spAutoFit/>
          </a:bodyPr>
          <a:lstStyle/>
          <a:p>
            <a:pPr lvl="0" algn="ctr" defTabSz="957734">
              <a:defRPr/>
            </a:pPr>
            <a:r>
              <a:rPr lang="en-US" sz="2400" spc="16" dirty="0">
                <a:ln w="12700" cmpd="sng">
                  <a:noFill/>
                  <a:prstDash val="solid"/>
                </a:ln>
                <a:solidFill>
                  <a:prstClr val="white"/>
                </a:solidFill>
                <a:latin typeface="Century Gothic"/>
                <a:cs typeface="Century Gothic"/>
              </a:rPr>
              <a:t>Tracking Adaptation Time:</a:t>
            </a:r>
          </a:p>
          <a:p>
            <a:pPr lvl="0" algn="ctr" defTabSz="957734">
              <a:defRPr/>
            </a:pPr>
            <a:r>
              <a:rPr lang="en-US" sz="2400" spc="16" dirty="0">
                <a:ln w="12700" cmpd="sng">
                  <a:noFill/>
                  <a:prstDash val="solid"/>
                </a:ln>
                <a:solidFill>
                  <a:prstClr val="white"/>
                </a:solidFill>
                <a:latin typeface="Century Gothic"/>
                <a:cs typeface="Century Gothic"/>
              </a:rPr>
              <a:t>Metrics for Temporal Distribution Shift</a:t>
            </a:r>
          </a:p>
        </p:txBody>
      </p:sp>
      <p:pic>
        <p:nvPicPr>
          <p:cNvPr id="119" name="Immagine 118">
            <a:extLst>
              <a:ext uri="{FF2B5EF4-FFF2-40B4-BE49-F238E27FC236}">
                <a16:creationId xmlns:a16="http://schemas.microsoft.com/office/drawing/2014/main" id="{F93255CF-9211-A97A-E418-32FFCCC30E9B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10759048" y="128230"/>
            <a:ext cx="1170000" cy="1170000"/>
          </a:xfrm>
          <a:prstGeom prst="rect">
            <a:avLst/>
          </a:prstGeom>
        </p:spPr>
      </p:pic>
      <p:sp>
        <p:nvSpPr>
          <p:cNvPr id="110" name="Rectangle 30">
            <a:extLst>
              <a:ext uri="{FF2B5EF4-FFF2-40B4-BE49-F238E27FC236}">
                <a16:creationId xmlns:a16="http://schemas.microsoft.com/office/drawing/2014/main" id="{0B5DBC96-0248-1503-0AE4-2EA1F91237E0}"/>
              </a:ext>
            </a:extLst>
          </p:cNvPr>
          <p:cNvSpPr/>
          <p:nvPr/>
        </p:nvSpPr>
        <p:spPr>
          <a:xfrm>
            <a:off x="0" y="6629174"/>
            <a:ext cx="12191999" cy="228826"/>
          </a:xfrm>
          <a:prstGeom prst="rect">
            <a:avLst/>
          </a:prstGeom>
          <a:solidFill>
            <a:srgbClr val="35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9663" tIns="14832" rIns="29663" bIns="14832" rtlCol="0" anchor="ctr"/>
          <a:lstStyle/>
          <a:p>
            <a:pPr algn="ctr"/>
            <a:endParaRPr lang="en-US" dirty="0">
              <a:latin typeface="Century Gothic"/>
              <a:cs typeface="Century Gothic"/>
            </a:endParaRPr>
          </a:p>
        </p:txBody>
      </p:sp>
      <p:sp>
        <p:nvSpPr>
          <p:cNvPr id="116" name="Rectangle 18">
            <a:extLst>
              <a:ext uri="{FF2B5EF4-FFF2-40B4-BE49-F238E27FC236}">
                <a16:creationId xmlns:a16="http://schemas.microsoft.com/office/drawing/2014/main" id="{2D1D616F-86AC-4074-915B-3E87AE0F7AB1}"/>
              </a:ext>
            </a:extLst>
          </p:cNvPr>
          <p:cNvSpPr/>
          <p:nvPr/>
        </p:nvSpPr>
        <p:spPr>
          <a:xfrm>
            <a:off x="0" y="6656757"/>
            <a:ext cx="12191999" cy="183842"/>
          </a:xfrm>
          <a:prstGeom prst="rect">
            <a:avLst/>
          </a:prstGeom>
          <a:ln>
            <a:noFill/>
          </a:ln>
        </p:spPr>
        <p:txBody>
          <a:bodyPr wrap="square" lIns="29663" tIns="14832" rIns="29663" bIns="14832">
            <a:spAutoFit/>
          </a:bodyPr>
          <a:lstStyle/>
          <a:p>
            <a:r>
              <a:rPr lang="en-US" sz="1000" b="1" spc="16" dirty="0">
                <a:ln w="12700" cmpd="sng">
                  <a:noFill/>
                  <a:prstDash val="solid"/>
                </a:ln>
                <a:solidFill>
                  <a:prstClr val="white"/>
                </a:solidFill>
                <a:effectLst>
                  <a:glow rad="53100">
                    <a:srgbClr val="F79646">
                      <a:satMod val="180000"/>
                      <a:alpha val="30000"/>
                    </a:srgbClr>
                  </a:glow>
                </a:effectLst>
                <a:latin typeface="Century Gothic"/>
                <a:cs typeface="Century Gothic"/>
              </a:rPr>
              <a:t> Streaming Continual Learning AAAI Bridge                                                                                                                                                                                                              Singapore, January 21, 2026</a:t>
            </a:r>
            <a:endParaRPr lang="en-US" sz="1000" b="1" spc="16" dirty="0">
              <a:ln w="12700" cmpd="sng">
                <a:noFill/>
                <a:prstDash val="solid"/>
              </a:ln>
              <a:solidFill>
                <a:schemeClr val="bg1"/>
              </a:solidFill>
              <a:effectLst>
                <a:glow rad="53100">
                  <a:schemeClr val="tx2">
                    <a:lumMod val="10000"/>
                    <a:lumOff val="90000"/>
                    <a:alpha val="30000"/>
                  </a:schemeClr>
                </a:glow>
              </a:effectLst>
              <a:latin typeface="Century Gothic"/>
              <a:cs typeface="Century Gothic"/>
            </a:endParaRPr>
          </a:p>
        </p:txBody>
      </p:sp>
      <p:pic>
        <p:nvPicPr>
          <p:cNvPr id="127" name="Immagine 126">
            <a:extLst>
              <a:ext uri="{FF2B5EF4-FFF2-40B4-BE49-F238E27FC236}">
                <a16:creationId xmlns:a16="http://schemas.microsoft.com/office/drawing/2014/main" id="{F5270061-8B0C-73F3-E739-38E32EACAED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7411" y="2687170"/>
            <a:ext cx="11417177" cy="2636594"/>
          </a:xfrm>
          <a:prstGeom prst="rect">
            <a:avLst/>
          </a:prstGeom>
        </p:spPr>
      </p:pic>
      <p:sp>
        <p:nvSpPr>
          <p:cNvPr id="130" name="CasellaDiTesto 129">
            <a:extLst>
              <a:ext uri="{FF2B5EF4-FFF2-40B4-BE49-F238E27FC236}">
                <a16:creationId xmlns:a16="http://schemas.microsoft.com/office/drawing/2014/main" id="{B2F933DE-C06E-27BC-26E2-A3A5413DCFC6}"/>
              </a:ext>
            </a:extLst>
          </p:cNvPr>
          <p:cNvSpPr txBox="1"/>
          <p:nvPr/>
        </p:nvSpPr>
        <p:spPr>
          <a:xfrm>
            <a:off x="262951" y="1593773"/>
            <a:ext cx="1166609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57734"/>
            <a:r>
              <a:rPr lang="en-US" dirty="0">
                <a:solidFill>
                  <a:prstClr val="black"/>
                </a:solidFill>
                <a:latin typeface="Calibri"/>
              </a:rPr>
              <a:t>Existing evaluation metrics are unable to distinguish whether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performance degradation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over time is caused by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increasing data difficulty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or by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insufficient model adaptation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. This ambiguity limits our understanding of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model behavior under temporal shift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and hinders the design of adaptive learning algorithms.</a:t>
            </a:r>
          </a:p>
        </p:txBody>
      </p:sp>
    </p:spTree>
    <p:extLst>
      <p:ext uri="{BB962C8B-B14F-4D97-AF65-F5344CB8AC3E}">
        <p14:creationId xmlns:p14="http://schemas.microsoft.com/office/powerpoint/2010/main" val="1899694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63833-707C-F71B-4520-943C974F2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3FA1309C-CB3A-750A-0FC5-CBD4D6F783D2}"/>
              </a:ext>
            </a:extLst>
          </p:cNvPr>
          <p:cNvSpPr/>
          <p:nvPr/>
        </p:nvSpPr>
        <p:spPr>
          <a:xfrm>
            <a:off x="262952" y="5640672"/>
            <a:ext cx="11666097" cy="7704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1" name="CasellaDiTesto 110">
            <a:extLst>
              <a:ext uri="{FF2B5EF4-FFF2-40B4-BE49-F238E27FC236}">
                <a16:creationId xmlns:a16="http://schemas.microsoft.com/office/drawing/2014/main" id="{9AF24EF2-F4AF-457F-38F4-78F6086DF068}"/>
              </a:ext>
            </a:extLst>
          </p:cNvPr>
          <p:cNvSpPr txBox="1"/>
          <p:nvPr/>
        </p:nvSpPr>
        <p:spPr>
          <a:xfrm>
            <a:off x="1422057" y="5750744"/>
            <a:ext cx="2343224" cy="56172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it-IT" sz="1600" dirty="0"/>
              <a:t>Lorenzo Iovine</a:t>
            </a:r>
          </a:p>
          <a:p>
            <a:r>
              <a:rPr lang="it-IT" sz="1600" dirty="0">
                <a:hlinkClick r:id="rId3"/>
              </a:rPr>
              <a:t>lorenzo.iovine@polimi.it</a:t>
            </a:r>
            <a:endParaRPr lang="it-IT" sz="1600" dirty="0"/>
          </a:p>
        </p:txBody>
      </p:sp>
      <p:sp>
        <p:nvSpPr>
          <p:cNvPr id="3" name="CasellaDiTesto 110">
            <a:extLst>
              <a:ext uri="{FF2B5EF4-FFF2-40B4-BE49-F238E27FC236}">
                <a16:creationId xmlns:a16="http://schemas.microsoft.com/office/drawing/2014/main" id="{F1536770-8BBE-E3CB-80BA-9F5E535CCBBB}"/>
              </a:ext>
            </a:extLst>
          </p:cNvPr>
          <p:cNvSpPr txBox="1"/>
          <p:nvPr/>
        </p:nvSpPr>
        <p:spPr>
          <a:xfrm>
            <a:off x="4924386" y="5767463"/>
            <a:ext cx="2343224" cy="5617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it-IT" sz="1600" dirty="0"/>
              <a:t>Giacomo </a:t>
            </a:r>
            <a:r>
              <a:rPr lang="it-IT" sz="1600" dirty="0" err="1"/>
              <a:t>Ziffer</a:t>
            </a:r>
            <a:endParaRPr lang="it-IT" sz="1600" dirty="0"/>
          </a:p>
          <a:p>
            <a:r>
              <a:rPr lang="it-IT" sz="1600" dirty="0">
                <a:hlinkClick r:id="rId4"/>
              </a:rPr>
              <a:t>giacomo.ziffer@polimi.it</a:t>
            </a:r>
            <a:endParaRPr lang="it-IT" sz="1600" dirty="0"/>
          </a:p>
        </p:txBody>
      </p:sp>
      <p:sp>
        <p:nvSpPr>
          <p:cNvPr id="109" name="CasellaDiTesto 110">
            <a:extLst>
              <a:ext uri="{FF2B5EF4-FFF2-40B4-BE49-F238E27FC236}">
                <a16:creationId xmlns:a16="http://schemas.microsoft.com/office/drawing/2014/main" id="{E7734298-F6BD-CB4B-380B-614EB41398A3}"/>
              </a:ext>
            </a:extLst>
          </p:cNvPr>
          <p:cNvSpPr txBox="1"/>
          <p:nvPr/>
        </p:nvSpPr>
        <p:spPr>
          <a:xfrm>
            <a:off x="8426715" y="5750744"/>
            <a:ext cx="2949145" cy="56171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it-IT" sz="1600" dirty="0"/>
              <a:t>Emanuele Della Valle</a:t>
            </a:r>
          </a:p>
          <a:p>
            <a:r>
              <a:rPr lang="it-IT" sz="1600" dirty="0">
                <a:hlinkClick r:id="rId5"/>
              </a:rPr>
              <a:t>emanuele.dellavalle@polimi.it</a:t>
            </a:r>
            <a:endParaRPr lang="it-IT" sz="1600" dirty="0"/>
          </a:p>
        </p:txBody>
      </p:sp>
      <p:sp>
        <p:nvSpPr>
          <p:cNvPr id="113" name="Rectangle 22">
            <a:extLst>
              <a:ext uri="{FF2B5EF4-FFF2-40B4-BE49-F238E27FC236}">
                <a16:creationId xmlns:a16="http://schemas.microsoft.com/office/drawing/2014/main" id="{C06E5BDF-8D66-1A0B-67C2-B353CCD5A66B}"/>
              </a:ext>
            </a:extLst>
          </p:cNvPr>
          <p:cNvSpPr/>
          <p:nvPr/>
        </p:nvSpPr>
        <p:spPr>
          <a:xfrm>
            <a:off x="0" y="12014"/>
            <a:ext cx="12191999" cy="14024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9663" tIns="14832" rIns="29663" bIns="14832" rtlCol="0" anchor="ctr"/>
          <a:lstStyle/>
          <a:p>
            <a:pPr algn="ctr"/>
            <a:endParaRPr lang="en-US" dirty="0">
              <a:latin typeface="Century Gothic"/>
              <a:cs typeface="Century Gothic"/>
            </a:endParaRPr>
          </a:p>
        </p:txBody>
      </p:sp>
      <p:pic>
        <p:nvPicPr>
          <p:cNvPr id="115" name="Picture 10">
            <a:extLst>
              <a:ext uri="{FF2B5EF4-FFF2-40B4-BE49-F238E27FC236}">
                <a16:creationId xmlns:a16="http://schemas.microsoft.com/office/drawing/2014/main" id="{97C5DD41-D26D-8B28-7699-AE6A0C99E752}"/>
              </a:ext>
            </a:extLst>
          </p:cNvPr>
          <p:cNvPicPr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2951" y="83230"/>
            <a:ext cx="1260000" cy="1260000"/>
          </a:xfrm>
          <a:prstGeom prst="rect">
            <a:avLst/>
          </a:prstGeom>
        </p:spPr>
      </p:pic>
      <p:sp>
        <p:nvSpPr>
          <p:cNvPr id="117" name="Rectangle 48">
            <a:extLst>
              <a:ext uri="{FF2B5EF4-FFF2-40B4-BE49-F238E27FC236}">
                <a16:creationId xmlns:a16="http://schemas.microsoft.com/office/drawing/2014/main" id="{AF9A3E7D-22FB-DCB3-0509-9AC3B70DA69E}"/>
              </a:ext>
            </a:extLst>
          </p:cNvPr>
          <p:cNvSpPr/>
          <p:nvPr/>
        </p:nvSpPr>
        <p:spPr>
          <a:xfrm>
            <a:off x="2013253" y="316907"/>
            <a:ext cx="8165491" cy="768617"/>
          </a:xfrm>
          <a:prstGeom prst="rect">
            <a:avLst/>
          </a:prstGeom>
        </p:spPr>
        <p:txBody>
          <a:bodyPr wrap="square" lIns="29663" tIns="14832" rIns="29663" bIns="14832">
            <a:spAutoFit/>
          </a:bodyPr>
          <a:lstStyle/>
          <a:p>
            <a:pPr lvl="0" algn="ctr" defTabSz="957734">
              <a:defRPr/>
            </a:pPr>
            <a:r>
              <a:rPr lang="en-US" sz="2400" spc="16" dirty="0">
                <a:ln w="12700" cmpd="sng">
                  <a:noFill/>
                  <a:prstDash val="solid"/>
                </a:ln>
                <a:solidFill>
                  <a:prstClr val="white"/>
                </a:solidFill>
                <a:latin typeface="Century Gothic"/>
                <a:cs typeface="Century Gothic"/>
              </a:rPr>
              <a:t>Tracking Adaptation Time:</a:t>
            </a:r>
          </a:p>
          <a:p>
            <a:pPr lvl="0" algn="ctr" defTabSz="957734">
              <a:defRPr/>
            </a:pPr>
            <a:r>
              <a:rPr lang="en-US" sz="2400" spc="16" dirty="0">
                <a:ln w="12700" cmpd="sng">
                  <a:noFill/>
                  <a:prstDash val="solid"/>
                </a:ln>
                <a:solidFill>
                  <a:prstClr val="white"/>
                </a:solidFill>
                <a:latin typeface="Century Gothic"/>
                <a:cs typeface="Century Gothic"/>
              </a:rPr>
              <a:t>Metrics for Temporal Distribution Shift</a:t>
            </a:r>
          </a:p>
        </p:txBody>
      </p:sp>
      <p:pic>
        <p:nvPicPr>
          <p:cNvPr id="119" name="Immagine 118">
            <a:extLst>
              <a:ext uri="{FF2B5EF4-FFF2-40B4-BE49-F238E27FC236}">
                <a16:creationId xmlns:a16="http://schemas.microsoft.com/office/drawing/2014/main" id="{D049AD7D-EE83-1579-9009-CF1EAB21BF79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10759048" y="128230"/>
            <a:ext cx="1170000" cy="1170000"/>
          </a:xfrm>
          <a:prstGeom prst="rect">
            <a:avLst/>
          </a:prstGeom>
        </p:spPr>
      </p:pic>
      <p:sp>
        <p:nvSpPr>
          <p:cNvPr id="110" name="Rectangle 30">
            <a:extLst>
              <a:ext uri="{FF2B5EF4-FFF2-40B4-BE49-F238E27FC236}">
                <a16:creationId xmlns:a16="http://schemas.microsoft.com/office/drawing/2014/main" id="{792009A1-5F0D-3798-2E87-2E28EA6E8339}"/>
              </a:ext>
            </a:extLst>
          </p:cNvPr>
          <p:cNvSpPr/>
          <p:nvPr/>
        </p:nvSpPr>
        <p:spPr>
          <a:xfrm>
            <a:off x="0" y="6629174"/>
            <a:ext cx="12191999" cy="228826"/>
          </a:xfrm>
          <a:prstGeom prst="rect">
            <a:avLst/>
          </a:prstGeom>
          <a:solidFill>
            <a:srgbClr val="35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9663" tIns="14832" rIns="29663" bIns="14832" rtlCol="0" anchor="ctr"/>
          <a:lstStyle/>
          <a:p>
            <a:pPr algn="ctr"/>
            <a:endParaRPr lang="en-US" dirty="0">
              <a:latin typeface="Century Gothic"/>
              <a:cs typeface="Century Gothic"/>
            </a:endParaRPr>
          </a:p>
        </p:txBody>
      </p:sp>
      <p:sp>
        <p:nvSpPr>
          <p:cNvPr id="116" name="Rectangle 18">
            <a:extLst>
              <a:ext uri="{FF2B5EF4-FFF2-40B4-BE49-F238E27FC236}">
                <a16:creationId xmlns:a16="http://schemas.microsoft.com/office/drawing/2014/main" id="{8884A854-6C5D-D916-677D-A296933C32C9}"/>
              </a:ext>
            </a:extLst>
          </p:cNvPr>
          <p:cNvSpPr/>
          <p:nvPr/>
        </p:nvSpPr>
        <p:spPr>
          <a:xfrm>
            <a:off x="0" y="6656757"/>
            <a:ext cx="12191999" cy="183842"/>
          </a:xfrm>
          <a:prstGeom prst="rect">
            <a:avLst/>
          </a:prstGeom>
          <a:ln>
            <a:noFill/>
          </a:ln>
        </p:spPr>
        <p:txBody>
          <a:bodyPr wrap="square" lIns="29663" tIns="14832" rIns="29663" bIns="14832">
            <a:spAutoFit/>
          </a:bodyPr>
          <a:lstStyle/>
          <a:p>
            <a:r>
              <a:rPr lang="en-US" sz="1000" b="1" spc="16" dirty="0">
                <a:ln w="12700" cmpd="sng">
                  <a:noFill/>
                  <a:prstDash val="solid"/>
                </a:ln>
                <a:solidFill>
                  <a:prstClr val="white"/>
                </a:solidFill>
                <a:effectLst>
                  <a:glow rad="53100">
                    <a:srgbClr val="F79646">
                      <a:satMod val="180000"/>
                      <a:alpha val="30000"/>
                    </a:srgbClr>
                  </a:glow>
                </a:effectLst>
                <a:latin typeface="Century Gothic"/>
                <a:cs typeface="Century Gothic"/>
              </a:rPr>
              <a:t> Streaming Continual Learning AAAI Bridge                                                                                                                                                                                                              Singapore, January 21, 2026</a:t>
            </a:r>
            <a:endParaRPr lang="en-US" sz="1000" b="1" spc="16" dirty="0">
              <a:ln w="12700" cmpd="sng">
                <a:noFill/>
                <a:prstDash val="solid"/>
              </a:ln>
              <a:solidFill>
                <a:schemeClr val="bg1"/>
              </a:solidFill>
              <a:effectLst>
                <a:glow rad="53100">
                  <a:schemeClr val="tx2">
                    <a:lumMod val="10000"/>
                    <a:lumOff val="90000"/>
                    <a:alpha val="30000"/>
                  </a:schemeClr>
                </a:glow>
              </a:effectLst>
              <a:latin typeface="Century Gothic"/>
              <a:cs typeface="Century Gothic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DC3C469-B0BB-1584-F118-7359AF0B2D0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6559" y="1558021"/>
            <a:ext cx="9178873" cy="3067087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078DCBAE-4119-A0FA-717B-71390234DE29}"/>
              </a:ext>
            </a:extLst>
          </p:cNvPr>
          <p:cNvSpPr txBox="1"/>
          <p:nvPr/>
        </p:nvSpPr>
        <p:spPr>
          <a:xfrm>
            <a:off x="1032355" y="4784175"/>
            <a:ext cx="101272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57734"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Around 1970, a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large apparent ID–OOD gap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(99% vs. 77%)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corresponds to a TAS of about 90%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,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indicating that the performance drop is largely due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to intrinsic data difficulty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rather than failure to adapt.</a:t>
            </a:r>
          </a:p>
        </p:txBody>
      </p:sp>
    </p:spTree>
    <p:extLst>
      <p:ext uri="{BB962C8B-B14F-4D97-AF65-F5344CB8AC3E}">
        <p14:creationId xmlns:p14="http://schemas.microsoft.com/office/powerpoint/2010/main" val="5253606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621</TotalTime>
  <Words>670</Words>
  <Application>Microsoft Macintosh PowerPoint</Application>
  <PresentationFormat>Widescreen</PresentationFormat>
  <Paragraphs>54</Paragraphs>
  <Slides>3</Slides>
  <Notes>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Century Gothic</vt:lpstr>
      <vt:lpstr>Tema di Office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Lorenzo Iovine</dc:creator>
  <cp:lastModifiedBy>Lorenzo Iovine</cp:lastModifiedBy>
  <cp:revision>5</cp:revision>
  <dcterms:created xsi:type="dcterms:W3CDTF">2026-01-11T10:16:28Z</dcterms:created>
  <dcterms:modified xsi:type="dcterms:W3CDTF">2026-01-20T15:21:05Z</dcterms:modified>
</cp:coreProperties>
</file>